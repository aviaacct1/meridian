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8" r:id="rId1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8" d="100"/>
          <a:sy n="158" d="100"/>
        </p:scale>
        <p:origin x="2526" y="1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19" Type="http://schemas.openxmlformats.org/officeDocument/2006/relationships/slide" Target="slides/slide13.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3864"/>
                </a:solidFill>
                <a:latin typeface="Arial"/>
              </a:defRPr>
            </a:pPr>
            <a:r>
              <a:rPr sz="1200" b="0" i="0" u="none" strike="noStrike">
                <a:solidFill>
                  <a:srgbClr val="1F3864"/>
                </a:solidFill>
                <a:latin typeface="Arial"/>
              </a:rPr>
              <a:t>Italy to NYC O&amp;D, annual passengers (000s), 2025</a:t>
            </a:r>
          </a:p>
        </c:rich>
      </c:tx>
      <c:overlay val="0"/>
    </c:title>
    <c:autoTitleDeleted val="0"/>
    <c:plotArea>
      <c:layout/>
      <c:barChart>
        <c:barDir val="bar"/>
        <c:grouping val="clustered"/>
        <c:varyColors val="0"/>
        <c:ser>
          <c:idx val="0"/>
          <c:order val="0"/>
          <c:tx>
            <c:strRef>
              <c:f>Sheet1!$B$1</c:f>
              <c:strCache>
                <c:ptCount val="1"/>
                <c:pt idx="0">
                  <c:v>Annual O&amp;D to NYC</c:v>
                </c:pt>
              </c:strCache>
            </c:strRef>
          </c:tx>
          <c:spPr>
            <a:solidFill>
              <a:srgbClr val="2F5496"/>
            </a:solidFill>
            <a:effectLst/>
          </c:spPr>
          <c:invertIfNegative val="0"/>
          <c:dLbls>
            <c:numFmt formatCode="#,##0" sourceLinked="0"/>
            <c:spPr>
              <a:noFill/>
              <a:ln>
                <a:noFill/>
              </a:ln>
              <a:effectLst/>
            </c:spPr>
            <c:txPr>
              <a:bodyPr/>
              <a:lstStyle/>
              <a:p>
                <a:pPr>
                  <a:defRPr sz="1000" b="0" i="0" u="none" strike="noStrike">
                    <a:solidFill>
                      <a:srgbClr val="2A2A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FCO</c:v>
                </c:pt>
                <c:pt idx="1">
                  <c:v>MXP</c:v>
                </c:pt>
                <c:pt idx="2">
                  <c:v>Other</c:v>
                </c:pt>
                <c:pt idx="3">
                  <c:v>VCE</c:v>
                </c:pt>
                <c:pt idx="4">
                  <c:v>NAP</c:v>
                </c:pt>
                <c:pt idx="5">
                  <c:v>BLQ</c:v>
                </c:pt>
                <c:pt idx="6">
                  <c:v>LIN</c:v>
                </c:pt>
                <c:pt idx="7">
                  <c:v>GOA</c:v>
                </c:pt>
              </c:strCache>
            </c:strRef>
          </c:cat>
          <c:val>
            <c:numRef>
              <c:f>Sheet1!$B$2:$B$9</c:f>
              <c:numCache>
                <c:formatCode>General</c:formatCode>
                <c:ptCount val="8"/>
                <c:pt idx="0">
                  <c:v>823</c:v>
                </c:pt>
                <c:pt idx="1">
                  <c:v>708</c:v>
                </c:pt>
                <c:pt idx="2">
                  <c:v>394</c:v>
                </c:pt>
                <c:pt idx="3">
                  <c:v>180</c:v>
                </c:pt>
                <c:pt idx="4">
                  <c:v>151</c:v>
                </c:pt>
                <c:pt idx="5">
                  <c:v>53</c:v>
                </c:pt>
                <c:pt idx="6">
                  <c:v>47</c:v>
                </c:pt>
                <c:pt idx="7">
                  <c:v>9</c:v>
                </c:pt>
              </c:numCache>
            </c:numRef>
          </c:val>
          <c:extLst>
            <c:ext xmlns:c16="http://schemas.microsoft.com/office/drawing/2014/chart" uri="{C3380CC4-5D6E-409C-BE32-E72D297353CC}">
              <c16:uniqueId val="{00000000-B220-4603-B137-E83C174B61C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A2A2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F3864"/>
                </a:solidFill>
                <a:latin typeface="Arial"/>
              </a:defRPr>
            </a:pPr>
            <a:r>
              <a:rPr sz="1100" b="0" i="0" u="none" strike="noStrike">
                <a:solidFill>
                  <a:srgbClr val="1F3864"/>
                </a:solidFill>
                <a:latin typeface="Arial"/>
              </a:rPr>
              <a:t>Italy-NYC monthly demand profile (100 = average month), Mar 2025-Feb 2026</a:t>
            </a:r>
          </a:p>
        </c:rich>
      </c:tx>
      <c:overlay val="0"/>
    </c:title>
    <c:autoTitleDeleted val="0"/>
    <c:plotArea>
      <c:layout/>
      <c:lineChart>
        <c:grouping val="standard"/>
        <c:varyColors val="0"/>
        <c:ser>
          <c:idx val="0"/>
          <c:order val="0"/>
          <c:tx>
            <c:strRef>
              <c:f>Sheet1!$B$1</c:f>
              <c:strCache>
                <c:ptCount val="1"/>
                <c:pt idx="0">
                  <c:v>Italy-NYC monthly profile</c:v>
                </c:pt>
              </c:strCache>
            </c:strRef>
          </c:tx>
          <c:spPr>
            <a:ln w="38100" cap="flat">
              <a:solidFill>
                <a:srgbClr val="2F5496"/>
              </a:solidFill>
              <a:prstDash val="solid"/>
              <a:round/>
            </a:ln>
            <a:effectLst/>
          </c:spPr>
          <c:marker>
            <c:symbol val="circle"/>
            <c:size val="6"/>
            <c:spPr>
              <a:solidFill>
                <a:srgbClr val="2F5496"/>
              </a:solidFill>
              <a:ln w="9525" cap="flat">
                <a:solidFill>
                  <a:srgbClr val="2F5496"/>
                </a:solidFill>
                <a:prstDash val="solid"/>
                <a:round/>
              </a:ln>
              <a:effectLst/>
            </c:spPr>
          </c:marker>
          <c:dLbls>
            <c:numFmt formatCode="0" sourceLinked="0"/>
            <c:spPr>
              <a:noFill/>
              <a:ln>
                <a:noFill/>
              </a:ln>
              <a:effectLst/>
            </c:spPr>
            <c:txPr>
              <a:bodyPr/>
              <a:lstStyle/>
              <a:p>
                <a:pPr>
                  <a:defRPr sz="900" b="0" i="0" u="none" strike="noStrike">
                    <a:solidFill>
                      <a:srgbClr val="1F3864"/>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69</c:v>
                </c:pt>
                <c:pt idx="1">
                  <c:v>73</c:v>
                </c:pt>
                <c:pt idx="2">
                  <c:v>87</c:v>
                </c:pt>
                <c:pt idx="3">
                  <c:v>117</c:v>
                </c:pt>
                <c:pt idx="4">
                  <c:v>115</c:v>
                </c:pt>
                <c:pt idx="5">
                  <c:v>115</c:v>
                </c:pt>
                <c:pt idx="6">
                  <c:v>114</c:v>
                </c:pt>
                <c:pt idx="7">
                  <c:v>132</c:v>
                </c:pt>
                <c:pt idx="8">
                  <c:v>109</c:v>
                </c:pt>
                <c:pt idx="9">
                  <c:v>101</c:v>
                </c:pt>
                <c:pt idx="10">
                  <c:v>78</c:v>
                </c:pt>
                <c:pt idx="11">
                  <c:v>90</c:v>
                </c:pt>
              </c:numCache>
            </c:numRef>
          </c:val>
          <c:smooth val="1"/>
          <c:extLst>
            <c:ext xmlns:c16="http://schemas.microsoft.com/office/drawing/2014/chart" uri="{C3380CC4-5D6E-409C-BE32-E72D297353CC}">
              <c16:uniqueId val="{00000000-6C81-46DB-B9D8-69014192007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2A2A"/>
                </a:solidFill>
                <a:latin typeface="Arial"/>
              </a:defRPr>
            </a:pPr>
            <a:endParaRPr lang="en-US"/>
          </a:p>
        </c:txPr>
        <c:crossAx val="2094734552"/>
        <c:crosses val="autoZero"/>
        <c:auto val="1"/>
        <c:lblAlgn val="ctr"/>
        <c:lblOffset val="100"/>
        <c:noMultiLvlLbl val="1"/>
      </c:catAx>
      <c:valAx>
        <c:axId val="2094734552"/>
        <c:scaling>
          <c:orientation val="minMax"/>
          <c:max val="150"/>
          <c:min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0764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Open warmly, thank Francesco and Daniele for the time, acknowledge Fabrizio's introduction. State up front that the call is intended as a working conversation, not a credentials pitch. 30 minutes, structured agenda, leave room for discussion at each major transition.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call up front. Most senior executives respond well to being told what to expect. The unconventional structure (no credentials block) is signalled openly. If Francesco prefers the traditional structure, the line at the bottom invites him to ask for it. Move briskly past this slide once read.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methodological framing. This slide does the work of acknowledging Francesco's pushback on premature XLR focus while also signalling Avia's analytical discipline. The three-step structure is genuinely how good route development work proceeds. Pause briefly on the anchor sentence at the bottom; it is the philosophical position.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we surface the question of what evidence Genoa already has. Pause here for discussion. If Francesco has cell data work already done, we adapt the pitch accordingly. If not, this is where Stage 1 starts. Either answer is useful information. The Italian partner reference is intentional: signals we know who to bring in if needed, without committing to any specific firm.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Sabre 2025 numbers. The headline finding is the +12.1% Genoa growth against a -1.6% national market and -6% at the two big gateways. This is a properly evidenced share-gain story, not aspiration. Worth pausing on this point and asking Francesco what he attributes it to. If he has a view, useful information for Stage 1. The Liguria routing pattern (c.50% FCO, 27% MUC, 22% AMS) tells us a direct service competes against established one-stop options rather than against MXP. ITA at FCO is the dominant connecting carrier, which means a direct GOA service most directly threatens ITA's existing connecting yield from Liguria.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Two-view slide. The 3-hour view shows the geographic reach an airline planner sees first, and immediately recognises is unrealistic because of the competing airports inside it. The 60-90 minute view is the analytical anchor: 1.5m at the inner ring (genuinely defendable because GOA is closest) and 3.2m at the outer ring (defendable to varying degrees against Pisa and Nice on the margins). The Province of Genoa as the largest defendable zone is the single most important point on this slide. Milan is in the catchment geographically but lost commercially.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slide. The three big numbers establish the size of the prize. The third box is the analytical sophistication that distinguishes Avia from a generic consultant. Point of sale shows 1,507 identifiable Genoa-catchment Milan-NYC tickets, just 0.2% of total. Read this aloud as a floor, not the answer. Then explain why: tickets are issued by agencies, OTAs and corporate desks concentrated in Milan and Rome, regardless of where the traveller lives. 26% of Italy-sold tickets carry no town at all. Point of sale collapses the catchment into the booking centres. It confirms leakage exists and sets a hard floor, but cannot size it. Sizing the repatriable traffic needs the drive-time and cell catchment work in Stage 1. The scenarios below are illustrative; read the red caveat aloud. The c.40k Conservative case is around sub-daily narrowbody territory. The c.75k Mid case supports a sub-daily or summer-daily XLR. The c.115k Optimistic case approaches daily XLR. Worth noting that MXP-NYC has Emirates as its largest direct operator on a fifth-freedom service (c.234k, 36% of nonstop). The dominant MXP-NYC operator is not a US or Italian carrier. If Francesco asks about MXP competitive intensity, this is a useful colour point.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Seasonality now verified from the Sabre point-of-sale extract Mar 2025-Feb 2026. The leisure-weighted shape (August peak 132, January trough 69, peak-to-trough c.1.9x) is the strongest signal for operating model: a summer-only or summer-weighted XLR maps to this profile far better than year-round daily. Pause on the April-September plateau point. The April to September months sit at 109-132, materially above the annual mean of 100. If a 30-week summer operation is modelled against the annual mean it will read weak; modelled against the plateau it reads sensibly. This is the kind of analytical nuance that should land with Francesco. The three inbound demand boxes anchor the seasonal case in real things: 2.3m cruise (Italy's second-ranking hub), October Salone Nautico, ENAC concession with Erzelli named. The strategic band at the bottom is the operating implication of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payoff slide. JetBlue is the lead story now: their BOS-MXP launch in May 2026 confirms they are actively entering the US-Italy market with narrowbody, which makes them the natural conversation for a future GOA-NYC service once their Italian base is established. United just took delivery of its first XLR (April 2026) which puts them firmly in play; transatlantic deployment timing is what to watch. American operates one transatlantic XLR (JFK-EDI) so far, with PHL-Porto next, and is opening a New York XLR pilot base. Air Canada is interesting from YUL not NYC, but they have a defined secondary-city XLR strategy worth mentioning. Verified MXP-NYC nonstop volumes 2025: Emirates 233,925 (36%, fifth-freedom JFK), Delta 112,181, American 99,086, United 90,767, Neos 69,061, La Compagnie 38,676, Norse 4,557. Two surprising facts to keep ready if the MXP discussion comes up: (1) the largest single direct operator from MXP to NYC is Emirates, neither US nor Italian. (2) ITA Airways serves NYC from FCO only, not from MXP. So the carrier landscape at MXP is genuinely thinner than it first appears, which strengthens the case for a Genoa direct-service play against MXP rather than weakens it. CRITICAL: caveat the preliminary nature of the ranking explicitly. The big point to land verbally: JetBlue is the most credible first conversation because they have just bought into Italy via MXP, but it is too early to approach them. Stage 1 evidence is what makes that conversation credible.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addresses Francesco's pushback. Five distinct operating models, each with different aircraft and demand requirements. The XLR is one option among several, not the only one. The Airbus performance reference at the bottom signals where Patrick fits in without making him central to this conversation. If asked which Avia thinks is most likely, the honest answer is: probably option 2 (sub-daily XLR) based on what we can see, but the catchment work could push it toward 1, 3, or even 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structure. Three stages, each independently valuable. The decision-point-at-each-stage framing protects Genoa from sunk-cost commitment, which is a powerful selling point for a Managing Director making the case internally. Do not commit to fees or specific delivery dates here; those follow in a written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State the three key takeaways briefly. Then invite discussion. Do NOT close on the proposal-scoping line; invite Francesco to share his reactions first. The proposal line is a fallback if there is dead silence. If Francesco engages with any of the analysis, follow his lead. Worth ending the call with a clear question to him: what would be most useful for Avia to come back with as a next step from his perspective.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365760"/>
          </a:xfrm>
          <a:prstGeom prst="rect">
            <a:avLst/>
          </a:prstGeom>
          <a:noFill/>
          <a:ln/>
        </p:spPr>
        <p:txBody>
          <a:bodyPr wrap="square" lIns="0" tIns="0" rIns="0" bIns="0" rtlCol="0" anchor="ctr"/>
          <a:lstStyle/>
          <a:p>
            <a:pPr marL="0" indent="0">
              <a:buNone/>
            </a:pPr>
            <a:r>
              <a:rPr lang="en-US" sz="1400" b="1" kern="0" spc="600" dirty="0">
                <a:solidFill>
                  <a:srgbClr val="8FAADC"/>
                </a:solidFill>
                <a:latin typeface="Arial" pitchFamily="34" charset="0"/>
                <a:ea typeface="Arial" pitchFamily="34" charset="-122"/>
                <a:cs typeface="Arial" pitchFamily="34" charset="-120"/>
              </a:rPr>
              <a:t>PROJECT LIGURIA</a:t>
            </a:r>
            <a:endParaRPr lang="en-US" sz="1400" dirty="0"/>
          </a:p>
        </p:txBody>
      </p:sp>
      <p:sp>
        <p:nvSpPr>
          <p:cNvPr id="3" name="Text 1"/>
          <p:cNvSpPr/>
          <p:nvPr/>
        </p:nvSpPr>
        <p:spPr>
          <a:xfrm>
            <a:off x="457200" y="2194560"/>
            <a:ext cx="11247120" cy="91440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Genoa to New York</a:t>
            </a:r>
            <a:endParaRPr lang="en-US" sz="4800" dirty="0"/>
          </a:p>
        </p:txBody>
      </p:sp>
      <p:sp>
        <p:nvSpPr>
          <p:cNvPr id="4" name="Text 2"/>
          <p:cNvSpPr/>
          <p:nvPr/>
        </p:nvSpPr>
        <p:spPr>
          <a:xfrm>
            <a:off x="457200" y="3108960"/>
            <a:ext cx="11247120" cy="548640"/>
          </a:xfrm>
          <a:prstGeom prst="rect">
            <a:avLst/>
          </a:prstGeom>
          <a:noFill/>
          <a:ln/>
        </p:spPr>
        <p:txBody>
          <a:bodyPr wrap="square" lIns="0" tIns="0" rIns="0" bIns="0" rtlCol="0" anchor="ctr"/>
          <a:lstStyle/>
          <a:p>
            <a:pPr marL="0" indent="0">
              <a:buNone/>
            </a:pPr>
            <a:r>
              <a:rPr lang="en-US" sz="2400" i="1" dirty="0">
                <a:solidFill>
                  <a:srgbClr val="DEEBF7"/>
                </a:solidFill>
                <a:latin typeface="Arial" pitchFamily="34" charset="0"/>
                <a:ea typeface="Arial" pitchFamily="34" charset="-122"/>
                <a:cs typeface="Arial" pitchFamily="34" charset="-120"/>
              </a:rPr>
              <a:t>Framing the long-haul opportunity</a:t>
            </a:r>
            <a:endParaRPr lang="en-US" sz="2400" dirty="0"/>
          </a:p>
        </p:txBody>
      </p:sp>
      <p:sp>
        <p:nvSpPr>
          <p:cNvPr id="5" name="Text 3"/>
          <p:cNvSpPr/>
          <p:nvPr/>
        </p:nvSpPr>
        <p:spPr>
          <a:xfrm>
            <a:off x="457200" y="4937760"/>
            <a:ext cx="11247120" cy="365760"/>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Prepared for Aeroporto di Genova S.p.A.</a:t>
            </a:r>
            <a:endParaRPr lang="en-US" sz="1400" dirty="0"/>
          </a:p>
        </p:txBody>
      </p:sp>
      <p:sp>
        <p:nvSpPr>
          <p:cNvPr id="6" name="Text 4"/>
          <p:cNvSpPr/>
          <p:nvPr/>
        </p:nvSpPr>
        <p:spPr>
          <a:xfrm>
            <a:off x="457200" y="5303520"/>
            <a:ext cx="11247120" cy="320040"/>
          </a:xfrm>
          <a:prstGeom prst="rect">
            <a:avLst/>
          </a:prstGeom>
          <a:noFill/>
          <a:ln/>
        </p:spPr>
        <p:txBody>
          <a:bodyPr wrap="square" lIns="0" tIns="0" rIns="0" bIns="0" rtlCol="0" anchor="ctr"/>
          <a:lstStyle/>
          <a:p>
            <a:pPr marL="0" indent="0">
              <a:buNone/>
            </a:pPr>
            <a:r>
              <a:rPr lang="en-US" sz="1200" dirty="0">
                <a:solidFill>
                  <a:srgbClr val="DEEBF7"/>
                </a:solidFill>
                <a:latin typeface="Arial" pitchFamily="34" charset="0"/>
                <a:ea typeface="Arial" pitchFamily="34" charset="-122"/>
                <a:cs typeface="Arial" pitchFamily="34" charset="-120"/>
              </a:rPr>
              <a:t>29 June 2026</a:t>
            </a:r>
            <a:endParaRPr lang="en-US" sz="1200" dirty="0"/>
          </a:p>
        </p:txBody>
      </p:sp>
      <p:sp>
        <p:nvSpPr>
          <p:cNvPr id="7" name="Text 5"/>
          <p:cNvSpPr/>
          <p:nvPr/>
        </p:nvSpPr>
        <p:spPr>
          <a:xfrm>
            <a:off x="457200" y="5623560"/>
            <a:ext cx="11247120" cy="320040"/>
          </a:xfrm>
          <a:prstGeom prst="rect">
            <a:avLst/>
          </a:prstGeom>
          <a:noFill/>
          <a:ln/>
        </p:spPr>
        <p:txBody>
          <a:bodyPr wrap="square" lIns="0" tIns="0" rIns="0" bIns="0" rtlCol="0" anchor="ctr"/>
          <a:lstStyle/>
          <a:p>
            <a:pPr marL="0" indent="0">
              <a:buNone/>
            </a:pPr>
            <a:r>
              <a:rPr lang="en-US" sz="1100" i="1" dirty="0">
                <a:solidFill>
                  <a:srgbClr val="8FAADC"/>
                </a:solidFill>
                <a:latin typeface="Arial" pitchFamily="34" charset="0"/>
                <a:ea typeface="Arial" pitchFamily="34" charset="-122"/>
                <a:cs typeface="Arial" pitchFamily="34" charset="-120"/>
              </a:rPr>
              <a:t>Private and Confidential | DRAFT</a:t>
            </a:r>
            <a:endParaRPr lang="en-US" sz="1100" dirty="0"/>
          </a:p>
        </p:txBody>
      </p:sp>
      <p:sp>
        <p:nvSpPr>
          <p:cNvPr id="8" name="Text 6"/>
          <p:cNvSpPr/>
          <p:nvPr/>
        </p:nvSpPr>
        <p:spPr>
          <a:xfrm>
            <a:off x="8961120" y="6126480"/>
            <a:ext cx="2743200" cy="274320"/>
          </a:xfrm>
          <a:prstGeom prst="rect">
            <a:avLst/>
          </a:prstGeom>
          <a:noFill/>
          <a:ln/>
        </p:spPr>
        <p:txBody>
          <a:bodyPr wrap="square" lIns="0" tIns="0" rIns="0" bIns="0" rtlCol="0" anchor="ctr"/>
          <a:lstStyle/>
          <a:p>
            <a:pPr marL="0" indent="0" algn="r">
              <a:buNone/>
            </a:pPr>
            <a:r>
              <a:rPr lang="en-US" sz="1100" b="1" kern="0" spc="400" dirty="0">
                <a:solidFill>
                  <a:srgbClr val="DEEBF7"/>
                </a:solidFill>
                <a:latin typeface="Arial" pitchFamily="34" charset="0"/>
                <a:ea typeface="Arial" pitchFamily="34" charset="-122"/>
                <a:cs typeface="Arial" pitchFamily="34" charset="-120"/>
              </a:rPr>
              <a:t>AVIA SOLUTIONS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How we propose to use the next thirty minutes</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A working conversation, not a credentials pitch</a:t>
            </a:r>
            <a:endParaRPr lang="en-US" sz="1300" dirty="0"/>
          </a:p>
        </p:txBody>
      </p:sp>
      <p:sp>
        <p:nvSpPr>
          <p:cNvPr id="4" name="Text 2"/>
          <p:cNvSpPr/>
          <p:nvPr/>
        </p:nvSpPr>
        <p:spPr>
          <a:xfrm>
            <a:off x="457200" y="1280160"/>
            <a:ext cx="11247120" cy="914400"/>
          </a:xfrm>
          <a:prstGeom prst="rect">
            <a:avLst/>
          </a:prstGeom>
          <a:noFill/>
          <a:ln/>
        </p:spPr>
        <p:txBody>
          <a:bodyPr wrap="square" lIns="0" tIns="0" rIns="0" bIns="0" rtlCol="0" anchor="t"/>
          <a:lstStyle/>
          <a:p>
            <a:pPr marL="0" indent="0">
              <a:buNone/>
            </a:pPr>
            <a:r>
              <a:rPr lang="en-US" sz="1400" dirty="0">
                <a:solidFill>
                  <a:srgbClr val="2A2A2A"/>
                </a:solidFill>
                <a:latin typeface="Arial" pitchFamily="34" charset="0"/>
                <a:ea typeface="Arial" pitchFamily="34" charset="-122"/>
                <a:cs typeface="Arial" pitchFamily="34" charset="-120"/>
              </a:rPr>
              <a:t>Rather than walk you through a standard Avia introduction, we thought it would be more useful to share how we would approach the Genoa to New York opportunity in practice, including our early thinking on the data, the operator candidates, and the work that would need to be done to build a persuasive airline case.</a:t>
            </a:r>
            <a:endParaRPr lang="en-US" sz="1400" dirty="0"/>
          </a:p>
        </p:txBody>
      </p:sp>
      <p:sp>
        <p:nvSpPr>
          <p:cNvPr id="5" name="Shape 3"/>
          <p:cNvSpPr/>
          <p:nvPr/>
        </p:nvSpPr>
        <p:spPr>
          <a:xfrm>
            <a:off x="457200" y="2468880"/>
            <a:ext cx="457200" cy="457200"/>
          </a:xfrm>
          <a:prstGeom prst="ellipse">
            <a:avLst/>
          </a:prstGeom>
          <a:solidFill>
            <a:srgbClr val="1F3864"/>
          </a:solidFill>
          <a:ln w="12700">
            <a:solidFill>
              <a:srgbClr val="1F3864"/>
            </a:solidFill>
            <a:prstDash val="solid"/>
          </a:ln>
        </p:spPr>
      </p:sp>
      <p:sp>
        <p:nvSpPr>
          <p:cNvPr id="6" name="Text 4"/>
          <p:cNvSpPr/>
          <p:nvPr/>
        </p:nvSpPr>
        <p:spPr>
          <a:xfrm>
            <a:off x="457200" y="2468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097280" y="2487168"/>
            <a:ext cx="3657600" cy="27432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The shape of the problem</a:t>
            </a:r>
            <a:endParaRPr lang="en-US" sz="1400" dirty="0"/>
          </a:p>
        </p:txBody>
      </p:sp>
      <p:sp>
        <p:nvSpPr>
          <p:cNvPr id="8" name="Text 6"/>
          <p:cNvSpPr/>
          <p:nvPr/>
        </p:nvSpPr>
        <p:spPr>
          <a:xfrm>
            <a:off x="4846320" y="2514600"/>
            <a:ext cx="6858000" cy="365760"/>
          </a:xfrm>
          <a:prstGeom prst="rect">
            <a:avLst/>
          </a:prstGeom>
          <a:noFill/>
          <a:ln/>
        </p:spPr>
        <p:txBody>
          <a:bodyPr wrap="square" lIns="0" tIns="0" rIns="0" bIns="0" rtlCol="0" anchor="ctr"/>
          <a:lstStyle/>
          <a:p>
            <a:pPr marL="0" indent="0">
              <a:buNone/>
            </a:pPr>
            <a:r>
              <a:rPr lang="en-US" sz="1200" dirty="0">
                <a:solidFill>
                  <a:srgbClr val="2A2A2A"/>
                </a:solidFill>
                <a:latin typeface="Arial" pitchFamily="34" charset="0"/>
                <a:ea typeface="Arial" pitchFamily="34" charset="-122"/>
                <a:cs typeface="Arial" pitchFamily="34" charset="-120"/>
              </a:rPr>
              <a:t>How we see Genoa to NYC and why the sequencing matters</a:t>
            </a:r>
            <a:endParaRPr lang="en-US" sz="1200" dirty="0"/>
          </a:p>
        </p:txBody>
      </p:sp>
      <p:sp>
        <p:nvSpPr>
          <p:cNvPr id="9" name="Shape 7"/>
          <p:cNvSpPr/>
          <p:nvPr/>
        </p:nvSpPr>
        <p:spPr>
          <a:xfrm>
            <a:off x="457200" y="3108960"/>
            <a:ext cx="457200" cy="457200"/>
          </a:xfrm>
          <a:prstGeom prst="ellipse">
            <a:avLst/>
          </a:prstGeom>
          <a:solidFill>
            <a:srgbClr val="1F3864"/>
          </a:solidFill>
          <a:ln w="12700">
            <a:solidFill>
              <a:srgbClr val="1F3864"/>
            </a:solidFill>
            <a:prstDash val="solid"/>
          </a:ln>
        </p:spPr>
      </p:sp>
      <p:sp>
        <p:nvSpPr>
          <p:cNvPr id="10" name="Text 8"/>
          <p:cNvSpPr/>
          <p:nvPr/>
        </p:nvSpPr>
        <p:spPr>
          <a:xfrm>
            <a:off x="45720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097280" y="3127248"/>
            <a:ext cx="3657600" cy="27432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The catchment evidence question</a:t>
            </a:r>
            <a:endParaRPr lang="en-US" sz="1400" dirty="0"/>
          </a:p>
        </p:txBody>
      </p:sp>
      <p:sp>
        <p:nvSpPr>
          <p:cNvPr id="12" name="Text 10"/>
          <p:cNvSpPr/>
          <p:nvPr/>
        </p:nvSpPr>
        <p:spPr>
          <a:xfrm>
            <a:off x="4846320" y="3154680"/>
            <a:ext cx="6858000" cy="365760"/>
          </a:xfrm>
          <a:prstGeom prst="rect">
            <a:avLst/>
          </a:prstGeom>
          <a:noFill/>
          <a:ln/>
        </p:spPr>
        <p:txBody>
          <a:bodyPr wrap="square" lIns="0" tIns="0" rIns="0" bIns="0" rtlCol="0" anchor="ctr"/>
          <a:lstStyle/>
          <a:p>
            <a:pPr marL="0" indent="0">
              <a:buNone/>
            </a:pPr>
            <a:r>
              <a:rPr lang="en-US" sz="1200" dirty="0">
                <a:solidFill>
                  <a:srgbClr val="2A2A2A"/>
                </a:solidFill>
                <a:latin typeface="Arial" pitchFamily="34" charset="0"/>
                <a:ea typeface="Arial" pitchFamily="34" charset="-122"/>
                <a:cs typeface="Arial" pitchFamily="34" charset="-120"/>
              </a:rPr>
              <a:t>What airlines look for, and what the data tells us</a:t>
            </a:r>
            <a:endParaRPr lang="en-US" sz="1200" dirty="0"/>
          </a:p>
        </p:txBody>
      </p:sp>
      <p:sp>
        <p:nvSpPr>
          <p:cNvPr id="13" name="Shape 11"/>
          <p:cNvSpPr/>
          <p:nvPr/>
        </p:nvSpPr>
        <p:spPr>
          <a:xfrm>
            <a:off x="457200" y="3749040"/>
            <a:ext cx="457200" cy="457200"/>
          </a:xfrm>
          <a:prstGeom prst="ellipse">
            <a:avLst/>
          </a:prstGeom>
          <a:solidFill>
            <a:srgbClr val="1F3864"/>
          </a:solidFill>
          <a:ln w="12700">
            <a:solidFill>
              <a:srgbClr val="1F3864"/>
            </a:solidFill>
            <a:prstDash val="solid"/>
          </a:ln>
        </p:spPr>
      </p:sp>
      <p:sp>
        <p:nvSpPr>
          <p:cNvPr id="14" name="Text 12"/>
          <p:cNvSpPr/>
          <p:nvPr/>
        </p:nvSpPr>
        <p:spPr>
          <a:xfrm>
            <a:off x="457200" y="3749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1097280" y="3767328"/>
            <a:ext cx="3657600" cy="27432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The addressable market</a:t>
            </a:r>
            <a:endParaRPr lang="en-US" sz="1400" dirty="0"/>
          </a:p>
        </p:txBody>
      </p:sp>
      <p:sp>
        <p:nvSpPr>
          <p:cNvPr id="16" name="Text 14"/>
          <p:cNvSpPr/>
          <p:nvPr/>
        </p:nvSpPr>
        <p:spPr>
          <a:xfrm>
            <a:off x="4846320" y="3794760"/>
            <a:ext cx="6858000" cy="365760"/>
          </a:xfrm>
          <a:prstGeom prst="rect">
            <a:avLst/>
          </a:prstGeom>
          <a:noFill/>
          <a:ln/>
        </p:spPr>
        <p:txBody>
          <a:bodyPr wrap="square" lIns="0" tIns="0" rIns="0" bIns="0" rtlCol="0" anchor="ctr"/>
          <a:lstStyle/>
          <a:p>
            <a:pPr marL="0" indent="0">
              <a:buNone/>
            </a:pPr>
            <a:r>
              <a:rPr lang="en-US" sz="1200" dirty="0">
                <a:solidFill>
                  <a:srgbClr val="2A2A2A"/>
                </a:solidFill>
                <a:latin typeface="Arial" pitchFamily="34" charset="0"/>
                <a:ea typeface="Arial" pitchFamily="34" charset="-122"/>
                <a:cs typeface="Arial" pitchFamily="34" charset="-120"/>
              </a:rPr>
              <a:t>Italy to NYC, Genoa's position, and the leakage opportunity</a:t>
            </a:r>
            <a:endParaRPr lang="en-US" sz="1200" dirty="0"/>
          </a:p>
        </p:txBody>
      </p:sp>
      <p:sp>
        <p:nvSpPr>
          <p:cNvPr id="17" name="Shape 15"/>
          <p:cNvSpPr/>
          <p:nvPr/>
        </p:nvSpPr>
        <p:spPr>
          <a:xfrm>
            <a:off x="457200" y="4389120"/>
            <a:ext cx="457200" cy="457200"/>
          </a:xfrm>
          <a:prstGeom prst="ellipse">
            <a:avLst/>
          </a:prstGeom>
          <a:solidFill>
            <a:srgbClr val="1F3864"/>
          </a:solidFill>
          <a:ln w="12700">
            <a:solidFill>
              <a:srgbClr val="1F3864"/>
            </a:solidFill>
            <a:prstDash val="solid"/>
          </a:ln>
        </p:spPr>
      </p:sp>
      <p:sp>
        <p:nvSpPr>
          <p:cNvPr id="18" name="Text 16"/>
          <p:cNvSpPr/>
          <p:nvPr/>
        </p:nvSpPr>
        <p:spPr>
          <a:xfrm>
            <a:off x="457200" y="4389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1097280" y="4407408"/>
            <a:ext cx="3657600" cy="27432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Operators and aircraft</a:t>
            </a:r>
            <a:endParaRPr lang="en-US" sz="1400" dirty="0"/>
          </a:p>
        </p:txBody>
      </p:sp>
      <p:sp>
        <p:nvSpPr>
          <p:cNvPr id="20" name="Text 18"/>
          <p:cNvSpPr/>
          <p:nvPr/>
        </p:nvSpPr>
        <p:spPr>
          <a:xfrm>
            <a:off x="4846320" y="4434840"/>
            <a:ext cx="6858000" cy="365760"/>
          </a:xfrm>
          <a:prstGeom prst="rect">
            <a:avLst/>
          </a:prstGeom>
          <a:noFill/>
          <a:ln/>
        </p:spPr>
        <p:txBody>
          <a:bodyPr wrap="square" lIns="0" tIns="0" rIns="0" bIns="0" rtlCol="0" anchor="ctr"/>
          <a:lstStyle/>
          <a:p>
            <a:pPr marL="0" indent="0">
              <a:buNone/>
            </a:pPr>
            <a:r>
              <a:rPr lang="en-US" sz="1200" dirty="0">
                <a:solidFill>
                  <a:srgbClr val="2A2A2A"/>
                </a:solidFill>
                <a:latin typeface="Arial" pitchFamily="34" charset="0"/>
                <a:ea typeface="Arial" pitchFamily="34" charset="-122"/>
                <a:cs typeface="Arial" pitchFamily="34" charset="-120"/>
              </a:rPr>
              <a:t>The realistic carrier shortlist and how it ranks</a:t>
            </a:r>
            <a:endParaRPr lang="en-US" sz="1200" dirty="0"/>
          </a:p>
        </p:txBody>
      </p:sp>
      <p:sp>
        <p:nvSpPr>
          <p:cNvPr id="21" name="Shape 19"/>
          <p:cNvSpPr/>
          <p:nvPr/>
        </p:nvSpPr>
        <p:spPr>
          <a:xfrm>
            <a:off x="457200" y="5029200"/>
            <a:ext cx="457200" cy="457200"/>
          </a:xfrm>
          <a:prstGeom prst="ellipse">
            <a:avLst/>
          </a:prstGeom>
          <a:solidFill>
            <a:srgbClr val="1F3864"/>
          </a:solidFill>
          <a:ln w="12700">
            <a:solidFill>
              <a:srgbClr val="1F3864"/>
            </a:solidFill>
            <a:prstDash val="solid"/>
          </a:ln>
        </p:spPr>
      </p:sp>
      <p:sp>
        <p:nvSpPr>
          <p:cNvPr id="22" name="Text 20"/>
          <p:cNvSpPr/>
          <p:nvPr/>
        </p:nvSpPr>
        <p:spPr>
          <a:xfrm>
            <a:off x="457200" y="5029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3" name="Text 21"/>
          <p:cNvSpPr/>
          <p:nvPr/>
        </p:nvSpPr>
        <p:spPr>
          <a:xfrm>
            <a:off x="1097280" y="5047488"/>
            <a:ext cx="3657600" cy="27432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How Avia would approach the work</a:t>
            </a:r>
            <a:endParaRPr lang="en-US" sz="1400" dirty="0"/>
          </a:p>
        </p:txBody>
      </p:sp>
      <p:sp>
        <p:nvSpPr>
          <p:cNvPr id="24" name="Text 22"/>
          <p:cNvSpPr/>
          <p:nvPr/>
        </p:nvSpPr>
        <p:spPr>
          <a:xfrm>
            <a:off x="4846320" y="5074920"/>
            <a:ext cx="6858000" cy="365760"/>
          </a:xfrm>
          <a:prstGeom prst="rect">
            <a:avLst/>
          </a:prstGeom>
          <a:noFill/>
          <a:ln/>
        </p:spPr>
        <p:txBody>
          <a:bodyPr wrap="square" lIns="0" tIns="0" rIns="0" bIns="0" rtlCol="0" anchor="ctr"/>
          <a:lstStyle/>
          <a:p>
            <a:pPr marL="0" indent="0">
              <a:buNone/>
            </a:pPr>
            <a:r>
              <a:rPr lang="en-US" sz="1200" dirty="0">
                <a:solidFill>
                  <a:srgbClr val="2A2A2A"/>
                </a:solidFill>
                <a:latin typeface="Arial" pitchFamily="34" charset="0"/>
                <a:ea typeface="Arial" pitchFamily="34" charset="-122"/>
                <a:cs typeface="Arial" pitchFamily="34" charset="-120"/>
              </a:rPr>
              <a:t>What Stage 1 would deliver and why it matters</a:t>
            </a:r>
            <a:endParaRPr lang="en-US" sz="1200" dirty="0"/>
          </a:p>
        </p:txBody>
      </p:sp>
      <p:sp>
        <p:nvSpPr>
          <p:cNvPr id="25" name="Text 23"/>
          <p:cNvSpPr/>
          <p:nvPr/>
        </p:nvSpPr>
        <p:spPr>
          <a:xfrm>
            <a:off x="457200" y="5852160"/>
            <a:ext cx="11247120" cy="45720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We can come back to formal Avia credentials at any point if useful. The Tampa to Bogota sample case we shared earlier gives a sense of our depth of work.</a:t>
            </a:r>
            <a:endParaRPr lang="en-US" sz="1100" dirty="0"/>
          </a:p>
        </p:txBody>
      </p:sp>
      <p:sp>
        <p:nvSpPr>
          <p:cNvPr id="26" name="Text 24"/>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7" name="Text 25"/>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The shape of the problem as we see it</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Three questions, in sequence</a:t>
            </a:r>
            <a:endParaRPr lang="en-US" sz="1300" dirty="0"/>
          </a:p>
        </p:txBody>
      </p:sp>
      <p:sp>
        <p:nvSpPr>
          <p:cNvPr id="4" name="Shape 2"/>
          <p:cNvSpPr/>
          <p:nvPr/>
        </p:nvSpPr>
        <p:spPr>
          <a:xfrm>
            <a:off x="525780" y="1463040"/>
            <a:ext cx="3611880" cy="3840480"/>
          </a:xfrm>
          <a:prstGeom prst="rect">
            <a:avLst/>
          </a:prstGeom>
          <a:solidFill>
            <a:srgbClr val="F7F9FC"/>
          </a:solidFill>
          <a:ln w="6350">
            <a:solidFill>
              <a:srgbClr val="BFBFBF"/>
            </a:solidFill>
            <a:prstDash val="solid"/>
          </a:ln>
        </p:spPr>
      </p:sp>
      <p:sp>
        <p:nvSpPr>
          <p:cNvPr id="5" name="Text 3"/>
          <p:cNvSpPr/>
          <p:nvPr/>
        </p:nvSpPr>
        <p:spPr>
          <a:xfrm>
            <a:off x="800100" y="1737360"/>
            <a:ext cx="914400" cy="731520"/>
          </a:xfrm>
          <a:prstGeom prst="rect">
            <a:avLst/>
          </a:prstGeom>
          <a:noFill/>
          <a:ln/>
        </p:spPr>
        <p:txBody>
          <a:bodyPr wrap="square" lIns="0" tIns="0" rIns="0" bIns="0" rtlCol="0" anchor="ctr"/>
          <a:lstStyle/>
          <a:p>
            <a:pPr marL="0" indent="0">
              <a:buNone/>
            </a:pPr>
            <a:r>
              <a:rPr lang="en-US" sz="5600" b="1" dirty="0">
                <a:solidFill>
                  <a:srgbClr val="1F3864"/>
                </a:solidFill>
                <a:latin typeface="Arial" pitchFamily="34" charset="0"/>
                <a:ea typeface="Arial" pitchFamily="34" charset="-122"/>
                <a:cs typeface="Arial" pitchFamily="34" charset="-120"/>
              </a:rPr>
              <a:t>1</a:t>
            </a:r>
            <a:endParaRPr lang="en-US" sz="5600" dirty="0"/>
          </a:p>
        </p:txBody>
      </p:sp>
      <p:sp>
        <p:nvSpPr>
          <p:cNvPr id="6" name="Text 4"/>
          <p:cNvSpPr/>
          <p:nvPr/>
        </p:nvSpPr>
        <p:spPr>
          <a:xfrm>
            <a:off x="800100" y="2560320"/>
            <a:ext cx="3063240" cy="36576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Catchment</a:t>
            </a:r>
            <a:endParaRPr lang="en-US" sz="1800" dirty="0"/>
          </a:p>
        </p:txBody>
      </p:sp>
      <p:sp>
        <p:nvSpPr>
          <p:cNvPr id="7" name="Text 5"/>
          <p:cNvSpPr/>
          <p:nvPr/>
        </p:nvSpPr>
        <p:spPr>
          <a:xfrm>
            <a:off x="800100" y="2926080"/>
            <a:ext cx="3063240" cy="320040"/>
          </a:xfrm>
          <a:prstGeom prst="rect">
            <a:avLst/>
          </a:prstGeom>
          <a:noFill/>
          <a:ln/>
        </p:spPr>
        <p:txBody>
          <a:bodyPr wrap="square" lIns="0" tIns="0" rIns="0" bIns="0" rtlCol="0" anchor="ctr"/>
          <a:lstStyle/>
          <a:p>
            <a:pPr marL="0" indent="0">
              <a:buNone/>
            </a:pPr>
            <a:r>
              <a:rPr lang="en-US" sz="1200" i="1" dirty="0">
                <a:solidFill>
                  <a:srgbClr val="595959"/>
                </a:solidFill>
                <a:latin typeface="Arial" pitchFamily="34" charset="0"/>
                <a:ea typeface="Arial" pitchFamily="34" charset="-122"/>
                <a:cs typeface="Arial" pitchFamily="34" charset="-120"/>
              </a:rPr>
              <a:t>What can Genoa realistically defend?</a:t>
            </a:r>
            <a:endParaRPr lang="en-US" sz="1200" dirty="0"/>
          </a:p>
        </p:txBody>
      </p:sp>
      <p:sp>
        <p:nvSpPr>
          <p:cNvPr id="8" name="Text 6"/>
          <p:cNvSpPr/>
          <p:nvPr/>
        </p:nvSpPr>
        <p:spPr>
          <a:xfrm>
            <a:off x="800100" y="3337560"/>
            <a:ext cx="3063240" cy="182880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Italy to NYC is a large and mature market. The strategic question is not whether demand exists, but how much of the Liguria and adjacent catchment can be retained at Genoa against MXP, FCO and European hub alternatives. This is a question about behaviour, not geography.</a:t>
            </a:r>
            <a:endParaRPr lang="en-US" sz="1100" dirty="0"/>
          </a:p>
        </p:txBody>
      </p:sp>
      <p:sp>
        <p:nvSpPr>
          <p:cNvPr id="9" name="Shape 7"/>
          <p:cNvSpPr/>
          <p:nvPr/>
        </p:nvSpPr>
        <p:spPr>
          <a:xfrm>
            <a:off x="4274820" y="1463040"/>
            <a:ext cx="3611880" cy="3840480"/>
          </a:xfrm>
          <a:prstGeom prst="rect">
            <a:avLst/>
          </a:prstGeom>
          <a:solidFill>
            <a:srgbClr val="F7F9FC"/>
          </a:solidFill>
          <a:ln w="6350">
            <a:solidFill>
              <a:srgbClr val="BFBFBF"/>
            </a:solidFill>
            <a:prstDash val="solid"/>
          </a:ln>
        </p:spPr>
      </p:sp>
      <p:sp>
        <p:nvSpPr>
          <p:cNvPr id="10" name="Text 8"/>
          <p:cNvSpPr/>
          <p:nvPr/>
        </p:nvSpPr>
        <p:spPr>
          <a:xfrm>
            <a:off x="4549140" y="1737360"/>
            <a:ext cx="914400" cy="731520"/>
          </a:xfrm>
          <a:prstGeom prst="rect">
            <a:avLst/>
          </a:prstGeom>
          <a:noFill/>
          <a:ln/>
        </p:spPr>
        <p:txBody>
          <a:bodyPr wrap="square" lIns="0" tIns="0" rIns="0" bIns="0" rtlCol="0" anchor="ctr"/>
          <a:lstStyle/>
          <a:p>
            <a:pPr marL="0" indent="0">
              <a:buNone/>
            </a:pPr>
            <a:r>
              <a:rPr lang="en-US" sz="5600" b="1" dirty="0">
                <a:solidFill>
                  <a:srgbClr val="2F5496"/>
                </a:solidFill>
                <a:latin typeface="Arial" pitchFamily="34" charset="0"/>
                <a:ea typeface="Arial" pitchFamily="34" charset="-122"/>
                <a:cs typeface="Arial" pitchFamily="34" charset="-120"/>
              </a:rPr>
              <a:t>2</a:t>
            </a:r>
            <a:endParaRPr lang="en-US" sz="5600" dirty="0"/>
          </a:p>
        </p:txBody>
      </p:sp>
      <p:sp>
        <p:nvSpPr>
          <p:cNvPr id="11" name="Text 9"/>
          <p:cNvSpPr/>
          <p:nvPr/>
        </p:nvSpPr>
        <p:spPr>
          <a:xfrm>
            <a:off x="4549140" y="2560320"/>
            <a:ext cx="3063240" cy="36576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Addressable market</a:t>
            </a:r>
            <a:endParaRPr lang="en-US" sz="1800" dirty="0"/>
          </a:p>
        </p:txBody>
      </p:sp>
      <p:sp>
        <p:nvSpPr>
          <p:cNvPr id="12" name="Text 10"/>
          <p:cNvSpPr/>
          <p:nvPr/>
        </p:nvSpPr>
        <p:spPr>
          <a:xfrm>
            <a:off x="4549140" y="2926080"/>
            <a:ext cx="3063240" cy="320040"/>
          </a:xfrm>
          <a:prstGeom prst="rect">
            <a:avLst/>
          </a:prstGeom>
          <a:noFill/>
          <a:ln/>
        </p:spPr>
        <p:txBody>
          <a:bodyPr wrap="square" lIns="0" tIns="0" rIns="0" bIns="0" rtlCol="0" anchor="ctr"/>
          <a:lstStyle/>
          <a:p>
            <a:pPr marL="0" indent="0">
              <a:buNone/>
            </a:pPr>
            <a:r>
              <a:rPr lang="en-US" sz="1200" i="1" dirty="0">
                <a:solidFill>
                  <a:srgbClr val="595959"/>
                </a:solidFill>
                <a:latin typeface="Arial" pitchFamily="34" charset="0"/>
                <a:ea typeface="Arial" pitchFamily="34" charset="-122"/>
                <a:cs typeface="Arial" pitchFamily="34" charset="-120"/>
              </a:rPr>
              <a:t>What demand does the route need to serve?</a:t>
            </a:r>
            <a:endParaRPr lang="en-US" sz="1200" dirty="0"/>
          </a:p>
        </p:txBody>
      </p:sp>
      <p:sp>
        <p:nvSpPr>
          <p:cNvPr id="13" name="Text 11"/>
          <p:cNvSpPr/>
          <p:nvPr/>
        </p:nvSpPr>
        <p:spPr>
          <a:xfrm>
            <a:off x="4549140" y="3337560"/>
            <a:ext cx="3063240" cy="182880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Sizing follows the catchment question. Once the defendable catchment is established, the addressable market can be quantified, including a realistic view of leakage recapture from MXP and stimulation from improved access. The shape of demand drives frequency and seasonality.</a:t>
            </a:r>
            <a:endParaRPr lang="en-US" sz="1100" dirty="0"/>
          </a:p>
        </p:txBody>
      </p:sp>
      <p:sp>
        <p:nvSpPr>
          <p:cNvPr id="14" name="Shape 12"/>
          <p:cNvSpPr/>
          <p:nvPr/>
        </p:nvSpPr>
        <p:spPr>
          <a:xfrm>
            <a:off x="8023860" y="1463040"/>
            <a:ext cx="3611880" cy="3840480"/>
          </a:xfrm>
          <a:prstGeom prst="rect">
            <a:avLst/>
          </a:prstGeom>
          <a:solidFill>
            <a:srgbClr val="F7F9FC"/>
          </a:solidFill>
          <a:ln w="6350">
            <a:solidFill>
              <a:srgbClr val="BFBFBF"/>
            </a:solidFill>
            <a:prstDash val="solid"/>
          </a:ln>
        </p:spPr>
      </p:sp>
      <p:sp>
        <p:nvSpPr>
          <p:cNvPr id="15" name="Text 13"/>
          <p:cNvSpPr/>
          <p:nvPr/>
        </p:nvSpPr>
        <p:spPr>
          <a:xfrm>
            <a:off x="8298180" y="1737360"/>
            <a:ext cx="914400" cy="731520"/>
          </a:xfrm>
          <a:prstGeom prst="rect">
            <a:avLst/>
          </a:prstGeom>
          <a:noFill/>
          <a:ln/>
        </p:spPr>
        <p:txBody>
          <a:bodyPr wrap="square" lIns="0" tIns="0" rIns="0" bIns="0" rtlCol="0" anchor="ctr"/>
          <a:lstStyle/>
          <a:p>
            <a:pPr marL="0" indent="0">
              <a:buNone/>
            </a:pPr>
            <a:r>
              <a:rPr lang="en-US" sz="5600" b="1" dirty="0">
                <a:solidFill>
                  <a:srgbClr val="8FAADC"/>
                </a:solidFill>
                <a:latin typeface="Arial" pitchFamily="34" charset="0"/>
                <a:ea typeface="Arial" pitchFamily="34" charset="-122"/>
                <a:cs typeface="Arial" pitchFamily="34" charset="-120"/>
              </a:rPr>
              <a:t>3</a:t>
            </a:r>
            <a:endParaRPr lang="en-US" sz="5600" dirty="0"/>
          </a:p>
        </p:txBody>
      </p:sp>
      <p:sp>
        <p:nvSpPr>
          <p:cNvPr id="16" name="Text 14"/>
          <p:cNvSpPr/>
          <p:nvPr/>
        </p:nvSpPr>
        <p:spPr>
          <a:xfrm>
            <a:off x="8298180" y="2560320"/>
            <a:ext cx="3063240" cy="36576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Operator and aircraft</a:t>
            </a:r>
            <a:endParaRPr lang="en-US" sz="1800" dirty="0"/>
          </a:p>
        </p:txBody>
      </p:sp>
      <p:sp>
        <p:nvSpPr>
          <p:cNvPr id="17" name="Text 15"/>
          <p:cNvSpPr/>
          <p:nvPr/>
        </p:nvSpPr>
        <p:spPr>
          <a:xfrm>
            <a:off x="8298180" y="2926080"/>
            <a:ext cx="3063240" cy="320040"/>
          </a:xfrm>
          <a:prstGeom prst="rect">
            <a:avLst/>
          </a:prstGeom>
          <a:noFill/>
          <a:ln/>
        </p:spPr>
        <p:txBody>
          <a:bodyPr wrap="square" lIns="0" tIns="0" rIns="0" bIns="0" rtlCol="0" anchor="ctr"/>
          <a:lstStyle/>
          <a:p>
            <a:pPr marL="0" indent="0">
              <a:buNone/>
            </a:pPr>
            <a:r>
              <a:rPr lang="en-US" sz="1200" i="1" dirty="0">
                <a:solidFill>
                  <a:srgbClr val="595959"/>
                </a:solidFill>
                <a:latin typeface="Arial" pitchFamily="34" charset="0"/>
                <a:ea typeface="Arial" pitchFamily="34" charset="-122"/>
                <a:cs typeface="Arial" pitchFamily="34" charset="-120"/>
              </a:rPr>
              <a:t>Who would fly it, and with what?</a:t>
            </a:r>
            <a:endParaRPr lang="en-US" sz="1200" dirty="0"/>
          </a:p>
        </p:txBody>
      </p:sp>
      <p:sp>
        <p:nvSpPr>
          <p:cNvPr id="18" name="Text 16"/>
          <p:cNvSpPr/>
          <p:nvPr/>
        </p:nvSpPr>
        <p:spPr>
          <a:xfrm>
            <a:off x="8298180" y="3337560"/>
            <a:ext cx="3063240" cy="182880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The carrier shortlist and the aircraft choice follow from the addressable market, not the other way round. Different demand profiles point to different operators and different operating models. Fixing on a single answer too early closes off thinking.</a:t>
            </a:r>
            <a:endParaRPr lang="en-US" sz="1100" dirty="0"/>
          </a:p>
        </p:txBody>
      </p:sp>
      <p:sp>
        <p:nvSpPr>
          <p:cNvPr id="19" name="Text 17"/>
          <p:cNvSpPr/>
          <p:nvPr/>
        </p:nvSpPr>
        <p:spPr>
          <a:xfrm>
            <a:off x="457200" y="5577840"/>
            <a:ext cx="11247120" cy="457200"/>
          </a:xfrm>
          <a:prstGeom prst="rect">
            <a:avLst/>
          </a:prstGeom>
          <a:noFill/>
          <a:ln/>
        </p:spPr>
        <p:txBody>
          <a:bodyPr wrap="square" lIns="0" tIns="0" rIns="0" bIns="0" rtlCol="0" anchor="ctr"/>
          <a:lstStyle/>
          <a:p>
            <a:pPr marL="0" indent="0" algn="ctr">
              <a:buNone/>
            </a:pPr>
            <a:r>
              <a:rPr lang="en-US" sz="1300" i="1" dirty="0">
                <a:solidFill>
                  <a:srgbClr val="1F3864"/>
                </a:solidFill>
                <a:latin typeface="Arial" pitchFamily="34" charset="0"/>
                <a:ea typeface="Arial" pitchFamily="34" charset="-122"/>
                <a:cs typeface="Arial" pitchFamily="34" charset="-120"/>
              </a:rPr>
              <a:t>Each question builds on the answers to the one above. Getting the sequence right is what separates a credible airline pitch from a wishful one.</a:t>
            </a:r>
            <a:endParaRPr lang="en-US" sz="1300" dirty="0"/>
          </a:p>
        </p:txBody>
      </p:sp>
      <p:sp>
        <p:nvSpPr>
          <p:cNvPr id="20" name="Text 18"/>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1" name="Text 19"/>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The catchment evidence question</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What airlines look for, and how Genoa would need to demonstrate it</a:t>
            </a:r>
            <a:endParaRPr lang="en-US" sz="1300" dirty="0"/>
          </a:p>
        </p:txBody>
      </p:sp>
      <p:sp>
        <p:nvSpPr>
          <p:cNvPr id="4" name="Text 2"/>
          <p:cNvSpPr/>
          <p:nvPr/>
        </p:nvSpPr>
        <p:spPr>
          <a:xfrm>
            <a:off x="457200" y="1234440"/>
            <a:ext cx="11247120" cy="822960"/>
          </a:xfrm>
          <a:prstGeom prst="rect">
            <a:avLst/>
          </a:prstGeom>
          <a:noFill/>
          <a:ln/>
        </p:spPr>
        <p:txBody>
          <a:bodyPr wrap="square" lIns="0" tIns="0" rIns="0" bIns="0" rtlCol="0" anchor="t"/>
          <a:lstStyle/>
          <a:p>
            <a:pPr marL="0" indent="0">
              <a:buNone/>
            </a:pPr>
            <a:r>
              <a:rPr lang="en-US" sz="1300" dirty="0">
                <a:solidFill>
                  <a:srgbClr val="2A2A2A"/>
                </a:solidFill>
                <a:latin typeface="Arial" pitchFamily="34" charset="0"/>
                <a:ea typeface="Arial" pitchFamily="34" charset="-122"/>
                <a:cs typeface="Arial" pitchFamily="34" charset="-120"/>
              </a:rPr>
              <a:t>When Genoa approaches a carrier, the first question their network planning team asks is: where do the passengers actually come from? Not stated catchment, not isochrone geography, but evidenced behaviour. Three data sources answer that question.</a:t>
            </a:r>
            <a:endParaRPr lang="en-US" sz="1300" dirty="0"/>
          </a:p>
        </p:txBody>
      </p:sp>
      <p:sp>
        <p:nvSpPr>
          <p:cNvPr id="5" name="Shape 3"/>
          <p:cNvSpPr/>
          <p:nvPr/>
        </p:nvSpPr>
        <p:spPr>
          <a:xfrm>
            <a:off x="525780" y="2194560"/>
            <a:ext cx="3611880" cy="3200400"/>
          </a:xfrm>
          <a:prstGeom prst="rect">
            <a:avLst/>
          </a:prstGeom>
          <a:solidFill>
            <a:srgbClr val="DEEBF7"/>
          </a:solidFill>
          <a:ln w="6350">
            <a:solidFill>
              <a:srgbClr val="8FAADC"/>
            </a:solidFill>
            <a:prstDash val="solid"/>
          </a:ln>
        </p:spPr>
      </p:sp>
      <p:sp>
        <p:nvSpPr>
          <p:cNvPr id="6" name="Text 4"/>
          <p:cNvSpPr/>
          <p:nvPr/>
        </p:nvSpPr>
        <p:spPr>
          <a:xfrm>
            <a:off x="800100" y="2423160"/>
            <a:ext cx="3063240" cy="36576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Sabre point-of-origin</a:t>
            </a:r>
            <a:endParaRPr lang="en-US" sz="1600" dirty="0"/>
          </a:p>
        </p:txBody>
      </p:sp>
      <p:sp>
        <p:nvSpPr>
          <p:cNvPr id="7" name="Text 5"/>
          <p:cNvSpPr/>
          <p:nvPr/>
        </p:nvSpPr>
        <p:spPr>
          <a:xfrm>
            <a:off x="800100" y="2788920"/>
            <a:ext cx="3063240" cy="32004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What the airline will see</a:t>
            </a:r>
            <a:endParaRPr lang="en-US" sz="1100" dirty="0"/>
          </a:p>
        </p:txBody>
      </p:sp>
      <p:sp>
        <p:nvSpPr>
          <p:cNvPr id="8" name="Text 6"/>
          <p:cNvSpPr/>
          <p:nvPr/>
        </p:nvSpPr>
        <p:spPr>
          <a:xfrm>
            <a:off x="800100" y="3200400"/>
            <a:ext cx="3063240" cy="164592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Bookings data linked to point-of-sale location. Shows where ticketed passengers actually originate, by postcode or province. This is the analysis any candidate carrier will run independently. Genoa's pitch needs to align with what this data shows.</a:t>
            </a:r>
            <a:endParaRPr lang="en-US" sz="1100" dirty="0"/>
          </a:p>
        </p:txBody>
      </p:sp>
      <p:sp>
        <p:nvSpPr>
          <p:cNvPr id="9" name="Text 7"/>
          <p:cNvSpPr/>
          <p:nvPr/>
        </p:nvSpPr>
        <p:spPr>
          <a:xfrm>
            <a:off x="800100" y="4937760"/>
            <a:ext cx="3063240" cy="274320"/>
          </a:xfrm>
          <a:prstGeom prst="rect">
            <a:avLst/>
          </a:prstGeom>
          <a:noFill/>
          <a:ln/>
        </p:spPr>
        <p:txBody>
          <a:bodyPr wrap="square" lIns="0" tIns="0" rIns="0" bIns="0" rtlCol="0" anchor="ctr"/>
          <a:lstStyle/>
          <a:p>
            <a:pPr marL="0" indent="0">
              <a:buNone/>
            </a:pPr>
            <a:r>
              <a:rPr lang="en-US" sz="1000" b="1" kern="0" spc="300" dirty="0">
                <a:solidFill>
                  <a:srgbClr val="2F5496"/>
                </a:solidFill>
                <a:latin typeface="Arial" pitchFamily="34" charset="0"/>
                <a:ea typeface="Arial" pitchFamily="34" charset="-122"/>
                <a:cs typeface="Arial" pitchFamily="34" charset="-120"/>
              </a:rPr>
              <a:t>Primary evidence</a:t>
            </a:r>
            <a:endParaRPr lang="en-US" sz="1000" dirty="0"/>
          </a:p>
        </p:txBody>
      </p:sp>
      <p:sp>
        <p:nvSpPr>
          <p:cNvPr id="10" name="Shape 8"/>
          <p:cNvSpPr/>
          <p:nvPr/>
        </p:nvSpPr>
        <p:spPr>
          <a:xfrm>
            <a:off x="4274820" y="2194560"/>
            <a:ext cx="3611880" cy="3200400"/>
          </a:xfrm>
          <a:prstGeom prst="rect">
            <a:avLst/>
          </a:prstGeom>
          <a:solidFill>
            <a:srgbClr val="DEEBF7"/>
          </a:solidFill>
          <a:ln w="6350">
            <a:solidFill>
              <a:srgbClr val="8FAADC"/>
            </a:solidFill>
            <a:prstDash val="solid"/>
          </a:ln>
        </p:spPr>
      </p:sp>
      <p:sp>
        <p:nvSpPr>
          <p:cNvPr id="11" name="Text 9"/>
          <p:cNvSpPr/>
          <p:nvPr/>
        </p:nvSpPr>
        <p:spPr>
          <a:xfrm>
            <a:off x="4549140" y="2423160"/>
            <a:ext cx="3063240" cy="36576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Mobile cell data</a:t>
            </a:r>
            <a:endParaRPr lang="en-US" sz="1600" dirty="0"/>
          </a:p>
        </p:txBody>
      </p:sp>
      <p:sp>
        <p:nvSpPr>
          <p:cNvPr id="12" name="Text 10"/>
          <p:cNvSpPr/>
          <p:nvPr/>
        </p:nvSpPr>
        <p:spPr>
          <a:xfrm>
            <a:off x="4549140" y="2788920"/>
            <a:ext cx="3063240" cy="32004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What the airport sees on the ground</a:t>
            </a:r>
            <a:endParaRPr lang="en-US" sz="1100" dirty="0"/>
          </a:p>
        </p:txBody>
      </p:sp>
      <p:sp>
        <p:nvSpPr>
          <p:cNvPr id="13" name="Text 11"/>
          <p:cNvSpPr/>
          <p:nvPr/>
        </p:nvSpPr>
        <p:spPr>
          <a:xfrm>
            <a:off x="4549140" y="3200400"/>
            <a:ext cx="3063240" cy="164592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Anonymised mobile telephony flow data showing where airport users travel from on the ground. Increasingly standard in serious airport catchment work. Genoa may already have this through Vodafone or TIM, and we have an Italian partner who specialises in this analysis for airports.</a:t>
            </a:r>
            <a:endParaRPr lang="en-US" sz="1100" dirty="0"/>
          </a:p>
        </p:txBody>
      </p:sp>
      <p:sp>
        <p:nvSpPr>
          <p:cNvPr id="14" name="Text 12"/>
          <p:cNvSpPr/>
          <p:nvPr/>
        </p:nvSpPr>
        <p:spPr>
          <a:xfrm>
            <a:off x="4549140" y="4937760"/>
            <a:ext cx="3063240" cy="274320"/>
          </a:xfrm>
          <a:prstGeom prst="rect">
            <a:avLst/>
          </a:prstGeom>
          <a:noFill/>
          <a:ln/>
        </p:spPr>
        <p:txBody>
          <a:bodyPr wrap="square" lIns="0" tIns="0" rIns="0" bIns="0" rtlCol="0" anchor="ctr"/>
          <a:lstStyle/>
          <a:p>
            <a:pPr marL="0" indent="0">
              <a:buNone/>
            </a:pPr>
            <a:r>
              <a:rPr lang="en-US" sz="1000" b="1" kern="0" spc="300" dirty="0">
                <a:solidFill>
                  <a:srgbClr val="2F5496"/>
                </a:solidFill>
                <a:latin typeface="Arial" pitchFamily="34" charset="0"/>
                <a:ea typeface="Arial" pitchFamily="34" charset="-122"/>
                <a:cs typeface="Arial" pitchFamily="34" charset="-120"/>
              </a:rPr>
              <a:t>Supporting evidence</a:t>
            </a:r>
            <a:endParaRPr lang="en-US" sz="1000" dirty="0"/>
          </a:p>
        </p:txBody>
      </p:sp>
      <p:sp>
        <p:nvSpPr>
          <p:cNvPr id="15" name="Shape 13"/>
          <p:cNvSpPr/>
          <p:nvPr/>
        </p:nvSpPr>
        <p:spPr>
          <a:xfrm>
            <a:off x="8023860" y="2194560"/>
            <a:ext cx="3611880" cy="3200400"/>
          </a:xfrm>
          <a:prstGeom prst="rect">
            <a:avLst/>
          </a:prstGeom>
          <a:solidFill>
            <a:srgbClr val="DEEBF7"/>
          </a:solidFill>
          <a:ln w="6350">
            <a:solidFill>
              <a:srgbClr val="8FAADC"/>
            </a:solidFill>
            <a:prstDash val="solid"/>
          </a:ln>
        </p:spPr>
      </p:sp>
      <p:sp>
        <p:nvSpPr>
          <p:cNvPr id="16" name="Text 14"/>
          <p:cNvSpPr/>
          <p:nvPr/>
        </p:nvSpPr>
        <p:spPr>
          <a:xfrm>
            <a:off x="8298180" y="2423160"/>
            <a:ext cx="3063240" cy="365760"/>
          </a:xfrm>
          <a:prstGeom prst="rect">
            <a:avLst/>
          </a:prstGeom>
          <a:noFill/>
          <a:ln/>
        </p:spPr>
        <p:txBody>
          <a:bodyPr wrap="square" lIns="0" tIns="0" rIns="0" bIns="0" rtlCol="0" anchor="ctr"/>
          <a:lstStyle/>
          <a:p>
            <a:pPr marL="0" indent="0">
              <a:buNone/>
            </a:pPr>
            <a:r>
              <a:rPr lang="en-US" sz="1600" b="1" dirty="0">
                <a:solidFill>
                  <a:srgbClr val="1F3864"/>
                </a:solidFill>
                <a:latin typeface="Arial" pitchFamily="34" charset="0"/>
                <a:ea typeface="Arial" pitchFamily="34" charset="-122"/>
                <a:cs typeface="Arial" pitchFamily="34" charset="-120"/>
              </a:rPr>
              <a:t>Stated-preference surveys</a:t>
            </a:r>
            <a:endParaRPr lang="en-US" sz="1600" dirty="0"/>
          </a:p>
        </p:txBody>
      </p:sp>
      <p:sp>
        <p:nvSpPr>
          <p:cNvPr id="17" name="Text 15"/>
          <p:cNvSpPr/>
          <p:nvPr/>
        </p:nvSpPr>
        <p:spPr>
          <a:xfrm>
            <a:off x="8298180" y="2788920"/>
            <a:ext cx="3063240" cy="32004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What passengers say they would do</a:t>
            </a:r>
            <a:endParaRPr lang="en-US" sz="1100" dirty="0"/>
          </a:p>
        </p:txBody>
      </p:sp>
      <p:sp>
        <p:nvSpPr>
          <p:cNvPr id="18" name="Text 16"/>
          <p:cNvSpPr/>
          <p:nvPr/>
        </p:nvSpPr>
        <p:spPr>
          <a:xfrm>
            <a:off x="8298180" y="3200400"/>
            <a:ext cx="3063240" cy="164592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Departing-passenger surveys on origin postcode, trip purpose and stated alternatives. Triangulates the booking and cell data. Less authoritative than the first two, but useful for testing willingness to drive and price sensitivity.</a:t>
            </a:r>
            <a:endParaRPr lang="en-US" sz="1100" dirty="0"/>
          </a:p>
        </p:txBody>
      </p:sp>
      <p:sp>
        <p:nvSpPr>
          <p:cNvPr id="19" name="Text 17"/>
          <p:cNvSpPr/>
          <p:nvPr/>
        </p:nvSpPr>
        <p:spPr>
          <a:xfrm>
            <a:off x="8298180" y="4937760"/>
            <a:ext cx="3063240" cy="274320"/>
          </a:xfrm>
          <a:prstGeom prst="rect">
            <a:avLst/>
          </a:prstGeom>
          <a:noFill/>
          <a:ln/>
        </p:spPr>
        <p:txBody>
          <a:bodyPr wrap="square" lIns="0" tIns="0" rIns="0" bIns="0" rtlCol="0" anchor="ctr"/>
          <a:lstStyle/>
          <a:p>
            <a:pPr marL="0" indent="0">
              <a:buNone/>
            </a:pPr>
            <a:r>
              <a:rPr lang="en-US" sz="1000" b="1" kern="0" spc="300" dirty="0">
                <a:solidFill>
                  <a:srgbClr val="2F5496"/>
                </a:solidFill>
                <a:latin typeface="Arial" pitchFamily="34" charset="0"/>
                <a:ea typeface="Arial" pitchFamily="34" charset="-122"/>
                <a:cs typeface="Arial" pitchFamily="34" charset="-120"/>
              </a:rPr>
              <a:t>Triangulation</a:t>
            </a:r>
            <a:endParaRPr lang="en-US" sz="1000" dirty="0"/>
          </a:p>
        </p:txBody>
      </p:sp>
      <p:sp>
        <p:nvSpPr>
          <p:cNvPr id="20" name="Text 18"/>
          <p:cNvSpPr/>
          <p:nvPr/>
        </p:nvSpPr>
        <p:spPr>
          <a:xfrm>
            <a:off x="457200" y="5577840"/>
            <a:ext cx="11247120" cy="365760"/>
          </a:xfrm>
          <a:prstGeom prst="rect">
            <a:avLst/>
          </a:prstGeom>
          <a:noFill/>
          <a:ln/>
        </p:spPr>
        <p:txBody>
          <a:bodyPr wrap="square" lIns="0" tIns="0" rIns="0" bIns="0" rtlCol="0" anchor="ctr"/>
          <a:lstStyle/>
          <a:p>
            <a:pPr marL="0" indent="0" algn="ctr">
              <a:buNone/>
            </a:pPr>
            <a:r>
              <a:rPr lang="en-US" sz="1300" i="1" dirty="0">
                <a:solidFill>
                  <a:srgbClr val="1F3864"/>
                </a:solidFill>
                <a:latin typeface="Arial" pitchFamily="34" charset="0"/>
                <a:ea typeface="Arial" pitchFamily="34" charset="-122"/>
                <a:cs typeface="Arial" pitchFamily="34" charset="-120"/>
              </a:rPr>
              <a:t>A credible airline conversation increasingly uses all three sources in combination.</a:t>
            </a:r>
            <a:endParaRPr lang="en-US" sz="1300" dirty="0"/>
          </a:p>
        </p:txBody>
      </p:sp>
      <p:sp>
        <p:nvSpPr>
          <p:cNvPr id="21" name="Text 19"/>
          <p:cNvSpPr/>
          <p:nvPr/>
        </p:nvSpPr>
        <p:spPr>
          <a:xfrm>
            <a:off x="457200" y="5943600"/>
            <a:ext cx="11247120" cy="365760"/>
          </a:xfrm>
          <a:prstGeom prst="rect">
            <a:avLst/>
          </a:prstGeom>
          <a:noFill/>
          <a:ln/>
        </p:spPr>
        <p:txBody>
          <a:bodyPr wrap="square" lIns="0" tIns="0" rIns="0" bIns="0" rtlCol="0" anchor="ctr"/>
          <a:lstStyle/>
          <a:p>
            <a:pPr marL="0" indent="0" algn="ctr">
              <a:buNone/>
            </a:pPr>
            <a:r>
              <a:rPr lang="en-US" sz="1300" b="1" dirty="0">
                <a:solidFill>
                  <a:srgbClr val="1F3864"/>
                </a:solidFill>
                <a:latin typeface="Arial" pitchFamily="34" charset="0"/>
                <a:ea typeface="Arial" pitchFamily="34" charset="-122"/>
                <a:cs typeface="Arial" pitchFamily="34" charset="-120"/>
              </a:rPr>
              <a:t>Does Genoa currently have any of these in place, and if so, in what form?</a:t>
            </a:r>
            <a:endParaRPr lang="en-US" sz="1300" dirty="0"/>
          </a:p>
        </p:txBody>
      </p:sp>
      <p:sp>
        <p:nvSpPr>
          <p:cNvPr id="22" name="Text 20"/>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3" name="Text 21"/>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The Italian market to New York in context</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A large, mature market. Genoa starts from a small base</a:t>
            </a:r>
            <a:endParaRPr lang="en-US" sz="1300" dirty="0"/>
          </a:p>
        </p:txBody>
      </p:sp>
      <p:graphicFrame>
        <p:nvGraphicFramePr>
          <p:cNvPr id="4" name="Chart 0"/>
          <p:cNvGraphicFramePr/>
          <p:nvPr/>
        </p:nvGraphicFramePr>
        <p:xfrm>
          <a:off x="640080" y="1280160"/>
          <a:ext cx="68580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5760720"/>
            <a:ext cx="6858000" cy="22860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Source: Sabre MIDT 2025, bidirectional O&amp;D. NYC = JFK + EWR + LGA. Avia Solutions analysis.</a:t>
            </a:r>
            <a:endParaRPr lang="en-US" sz="900" dirty="0"/>
          </a:p>
        </p:txBody>
      </p:sp>
      <p:sp>
        <p:nvSpPr>
          <p:cNvPr id="6" name="Shape 3"/>
          <p:cNvSpPr/>
          <p:nvPr/>
        </p:nvSpPr>
        <p:spPr>
          <a:xfrm>
            <a:off x="7772400" y="1280160"/>
            <a:ext cx="3931920" cy="4389120"/>
          </a:xfrm>
          <a:prstGeom prst="rect">
            <a:avLst/>
          </a:prstGeom>
          <a:solidFill>
            <a:srgbClr val="F7F9FC"/>
          </a:solidFill>
          <a:ln w="6350">
            <a:solidFill>
              <a:srgbClr val="BFBFBF"/>
            </a:solidFill>
            <a:prstDash val="solid"/>
          </a:ln>
        </p:spPr>
      </p:sp>
      <p:sp>
        <p:nvSpPr>
          <p:cNvPr id="7" name="Text 4"/>
          <p:cNvSpPr/>
          <p:nvPr/>
        </p:nvSpPr>
        <p:spPr>
          <a:xfrm>
            <a:off x="8001000" y="1417320"/>
            <a:ext cx="3474720" cy="365760"/>
          </a:xfrm>
          <a:prstGeom prst="rect">
            <a:avLst/>
          </a:prstGeom>
          <a:noFill/>
          <a:ln/>
        </p:spPr>
        <p:txBody>
          <a:bodyPr wrap="square" lIns="0" tIns="0" rIns="0" bIns="0" rtlCol="0" anchor="ctr"/>
          <a:lstStyle/>
          <a:p>
            <a:pPr marL="0" indent="0">
              <a:buNone/>
            </a:pPr>
            <a:r>
              <a:rPr lang="en-US" sz="1400" b="1" dirty="0">
                <a:solidFill>
                  <a:srgbClr val="1F3864"/>
                </a:solidFill>
                <a:latin typeface="Arial" pitchFamily="34" charset="0"/>
                <a:ea typeface="Arial" pitchFamily="34" charset="-122"/>
                <a:cs typeface="Arial" pitchFamily="34" charset="-120"/>
              </a:rPr>
              <a:t>What this tells us</a:t>
            </a:r>
            <a:endParaRPr lang="en-US" sz="1400" dirty="0"/>
          </a:p>
        </p:txBody>
      </p:sp>
      <p:sp>
        <p:nvSpPr>
          <p:cNvPr id="8" name="Text 5"/>
          <p:cNvSpPr/>
          <p:nvPr/>
        </p:nvSpPr>
        <p:spPr>
          <a:xfrm>
            <a:off x="8001000" y="1828800"/>
            <a:ext cx="3474720" cy="36576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2A2A"/>
                </a:solidFill>
                <a:latin typeface="Arial" pitchFamily="34" charset="0"/>
                <a:ea typeface="Arial" pitchFamily="34" charset="-122"/>
                <a:cs typeface="Arial" pitchFamily="34" charset="-120"/>
              </a:rPr>
              <a:t>Italy to NYC totals 2.37m passengers in 2025, a large and mature market.</a:t>
            </a:r>
            <a:endParaRPr lang="en-US" sz="1100" dirty="0"/>
          </a:p>
          <a:p>
            <a:pPr marL="342900" indent="-342900">
              <a:spcAft>
                <a:spcPts val="600"/>
              </a:spcAft>
              <a:buSzPct val="100000"/>
              <a:buChar char="•"/>
            </a:pPr>
            <a:r>
              <a:rPr lang="en-US" sz="1100" dirty="0">
                <a:solidFill>
                  <a:srgbClr val="2A2A2A"/>
                </a:solidFill>
                <a:latin typeface="Arial" pitchFamily="34" charset="0"/>
                <a:ea typeface="Arial" pitchFamily="34" charset="-122"/>
                <a:cs typeface="Arial" pitchFamily="34" charset="-120"/>
              </a:rPr>
              <a:t>FCO and MXP carry 65% of the total between them; Genoa shows 9,278 passengers, almost all routed indirectly.</a:t>
            </a:r>
            <a:endParaRPr lang="en-US" sz="1100" dirty="0"/>
          </a:p>
          <a:p>
            <a:pPr marL="342900" indent="-342900">
              <a:spcAft>
                <a:spcPts val="600"/>
              </a:spcAft>
              <a:buSzPct val="100000"/>
              <a:buChar char="•"/>
            </a:pPr>
            <a:r>
              <a:rPr lang="en-US" sz="1100" dirty="0">
                <a:solidFill>
                  <a:srgbClr val="2A2A2A"/>
                </a:solidFill>
                <a:latin typeface="Arial" pitchFamily="34" charset="0"/>
                <a:ea typeface="Arial" pitchFamily="34" charset="-122"/>
                <a:cs typeface="Arial" pitchFamily="34" charset="-120"/>
              </a:rPr>
              <a:t>Genoa grew +12.1% in 2025 against an Italian market that fell 1.6%, with FCO and MXP both down c.6%. Genoa is gaining share as the national gateways soften.</a:t>
            </a:r>
            <a:endParaRPr lang="en-US" sz="1100" dirty="0"/>
          </a:p>
          <a:p>
            <a:pPr marL="342900" indent="-342900">
              <a:spcAft>
                <a:spcPts val="600"/>
              </a:spcAft>
              <a:buSzPct val="100000"/>
              <a:buChar char="•"/>
            </a:pPr>
            <a:r>
              <a:rPr lang="en-US" sz="1100" dirty="0">
                <a:solidFill>
                  <a:srgbClr val="2A2A2A"/>
                </a:solidFill>
                <a:latin typeface="Arial" pitchFamily="34" charset="0"/>
                <a:ea typeface="Arial" pitchFamily="34" charset="-122"/>
                <a:cs typeface="Arial" pitchFamily="34" charset="-120"/>
              </a:rPr>
              <a:t>Liguria demand prefers hub feeds over MXP direct: c.50% via Rome, c.27% via Munich, c.22% via Amsterdam. A direct GOA service would compete against the hub options as much as against MXP itself.</a:t>
            </a:r>
            <a:endParaRPr lang="en-US" sz="1100" dirty="0"/>
          </a:p>
        </p:txBody>
      </p:sp>
      <p:sp>
        <p:nvSpPr>
          <p:cNvPr id="9" name="Text 6"/>
          <p:cNvSpPr/>
          <p:nvPr/>
        </p:nvSpPr>
        <p:spPr>
          <a:xfrm>
            <a:off x="457200" y="6126480"/>
            <a:ext cx="11247120" cy="320040"/>
          </a:xfrm>
          <a:prstGeom prst="rect">
            <a:avLst/>
          </a:prstGeom>
          <a:noFill/>
          <a:ln/>
        </p:spPr>
        <p:txBody>
          <a:bodyPr wrap="square" lIns="0" tIns="0" rIns="0" bIns="0" rtlCol="0" anchor="ctr"/>
          <a:lstStyle/>
          <a:p>
            <a:pPr marL="0" indent="0" algn="ctr">
              <a:buNone/>
            </a:pPr>
            <a:r>
              <a:rPr lang="en-US" sz="1200" i="1" dirty="0">
                <a:solidFill>
                  <a:srgbClr val="1F3864"/>
                </a:solidFill>
                <a:latin typeface="Arial" pitchFamily="34" charset="0"/>
                <a:ea typeface="Arial" pitchFamily="34" charset="-122"/>
                <a:cs typeface="Arial" pitchFamily="34" charset="-120"/>
              </a:rPr>
              <a:t>The Italian market is large and mature. Genoa is small but among the small group of Italian airports gaining share against a softening national picture.</a:t>
            </a:r>
            <a:endParaRPr lang="en-US" sz="1200" dirty="0"/>
          </a:p>
        </p:txBody>
      </p:sp>
      <p:sp>
        <p:nvSpPr>
          <p:cNvPr id="10" name="Text 7"/>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11" name="Text 8"/>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The catchment question</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Geographic reach is generous. The defendable share is what matters</a:t>
            </a:r>
            <a:endParaRPr lang="en-US" sz="1300" dirty="0"/>
          </a:p>
        </p:txBody>
      </p:sp>
      <p:sp>
        <p:nvSpPr>
          <p:cNvPr id="4" name="Text 2"/>
          <p:cNvSpPr/>
          <p:nvPr/>
        </p:nvSpPr>
        <p:spPr>
          <a:xfrm>
            <a:off x="457200" y="1188720"/>
            <a:ext cx="11247120" cy="502920"/>
          </a:xfrm>
          <a:prstGeom prst="rect">
            <a:avLst/>
          </a:prstGeom>
          <a:noFill/>
          <a:ln/>
        </p:spPr>
        <p:txBody>
          <a:bodyPr wrap="square" lIns="0" tIns="0" rIns="0" bIns="0" rtlCol="0" anchor="t"/>
          <a:lstStyle/>
          <a:p>
            <a:pPr marL="0" indent="0">
              <a:buNone/>
            </a:pPr>
            <a:r>
              <a:rPr lang="en-US" sz="1200" dirty="0">
                <a:solidFill>
                  <a:srgbClr val="2A2A2A"/>
                </a:solidFill>
                <a:latin typeface="Arial" pitchFamily="34" charset="0"/>
                <a:ea typeface="Arial" pitchFamily="34" charset="-122"/>
                <a:cs typeface="Arial" pitchFamily="34" charset="-120"/>
              </a:rPr>
              <a:t>Two views of the same catchment matter to airline planners: the geographic reach that defines the addressable population, and the defendable share that defines who would actually use Genoa over the alternatives.</a:t>
            </a:r>
            <a:endParaRPr lang="en-US" sz="1200" dirty="0"/>
          </a:p>
        </p:txBody>
      </p:sp>
      <p:sp>
        <p:nvSpPr>
          <p:cNvPr id="5" name="Shape 3"/>
          <p:cNvSpPr/>
          <p:nvPr/>
        </p:nvSpPr>
        <p:spPr>
          <a:xfrm>
            <a:off x="457200" y="1783080"/>
            <a:ext cx="5532120" cy="2788920"/>
          </a:xfrm>
          <a:prstGeom prst="rect">
            <a:avLst/>
          </a:prstGeom>
          <a:solidFill>
            <a:srgbClr val="F7F9FC"/>
          </a:solidFill>
          <a:ln w="6350">
            <a:solidFill>
              <a:srgbClr val="BFBFBF"/>
            </a:solidFill>
            <a:prstDash val="solid"/>
          </a:ln>
        </p:spPr>
      </p:sp>
      <p:pic>
        <p:nvPicPr>
          <p:cNvPr id="6" name="Image 0" descr="map_left_geographic_reach.png"/>
          <p:cNvPicPr>
            <a:picLocks noChangeAspect="1"/>
          </p:cNvPicPr>
          <p:nvPr/>
        </p:nvPicPr>
        <p:blipFill>
          <a:blip r:embed="rId3"/>
          <a:srcRect/>
          <a:stretch/>
        </p:blipFill>
        <p:spPr>
          <a:xfrm>
            <a:off x="530352" y="2423160"/>
            <a:ext cx="5385816" cy="1691640"/>
          </a:xfrm>
          <a:prstGeom prst="rect">
            <a:avLst/>
          </a:prstGeom>
        </p:spPr>
      </p:pic>
      <p:sp>
        <p:nvSpPr>
          <p:cNvPr id="7" name="Text 4"/>
          <p:cNvSpPr/>
          <p:nvPr/>
        </p:nvSpPr>
        <p:spPr>
          <a:xfrm>
            <a:off x="685800" y="1874520"/>
            <a:ext cx="507492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Geographic reach</a:t>
            </a:r>
            <a:endParaRPr lang="en-US" sz="1300" dirty="0"/>
          </a:p>
        </p:txBody>
      </p:sp>
      <p:sp>
        <p:nvSpPr>
          <p:cNvPr id="8" name="Text 5"/>
          <p:cNvSpPr/>
          <p:nvPr/>
        </p:nvSpPr>
        <p:spPr>
          <a:xfrm>
            <a:off x="685800" y="2148840"/>
            <a:ext cx="5074920" cy="228600"/>
          </a:xfrm>
          <a:prstGeom prst="rect">
            <a:avLst/>
          </a:prstGeom>
          <a:noFill/>
          <a:ln/>
        </p:spPr>
        <p:txBody>
          <a:bodyPr wrap="square" lIns="0" tIns="0" rIns="0" bIns="0" rtlCol="0" anchor="ctr"/>
          <a:lstStyle/>
          <a:p>
            <a:pPr marL="0" indent="0">
              <a:buNone/>
            </a:pPr>
            <a:r>
              <a:rPr lang="en-US" sz="1000" i="1" dirty="0">
                <a:solidFill>
                  <a:srgbClr val="595959"/>
                </a:solidFill>
                <a:latin typeface="Arial" pitchFamily="34" charset="0"/>
                <a:ea typeface="Arial" pitchFamily="34" charset="-122"/>
                <a:cs typeface="Arial" pitchFamily="34" charset="-120"/>
              </a:rPr>
              <a:t>3-hour drive isochrone</a:t>
            </a:r>
            <a:endParaRPr lang="en-US" sz="1000" dirty="0"/>
          </a:p>
        </p:txBody>
      </p:sp>
      <p:sp>
        <p:nvSpPr>
          <p:cNvPr id="9" name="Text 6"/>
          <p:cNvSpPr/>
          <p:nvPr/>
        </p:nvSpPr>
        <p:spPr>
          <a:xfrm>
            <a:off x="4434840" y="1874520"/>
            <a:ext cx="1417320" cy="411480"/>
          </a:xfrm>
          <a:prstGeom prst="rect">
            <a:avLst/>
          </a:prstGeom>
          <a:noFill/>
          <a:ln/>
        </p:spPr>
        <p:txBody>
          <a:bodyPr wrap="square" lIns="0" tIns="0" rIns="0" bIns="0" rtlCol="0" anchor="ctr"/>
          <a:lstStyle/>
          <a:p>
            <a:pPr marL="0" indent="0" algn="r">
              <a:buNone/>
            </a:pPr>
            <a:r>
              <a:rPr lang="en-US" sz="2200" b="1" dirty="0">
                <a:solidFill>
                  <a:srgbClr val="8FAADC"/>
                </a:solidFill>
                <a:latin typeface="Arial" pitchFamily="34" charset="0"/>
                <a:ea typeface="Arial" pitchFamily="34" charset="-122"/>
                <a:cs typeface="Arial" pitchFamily="34" charset="-120"/>
              </a:rPr>
              <a:t>c.6.5m</a:t>
            </a:r>
            <a:endParaRPr lang="en-US" sz="2200" dirty="0"/>
          </a:p>
        </p:txBody>
      </p:sp>
      <p:sp>
        <p:nvSpPr>
          <p:cNvPr id="10" name="Text 7"/>
          <p:cNvSpPr/>
          <p:nvPr/>
        </p:nvSpPr>
        <p:spPr>
          <a:xfrm>
            <a:off x="4434840" y="2240280"/>
            <a:ext cx="1417320" cy="228600"/>
          </a:xfrm>
          <a:prstGeom prst="rect">
            <a:avLst/>
          </a:prstGeom>
          <a:noFill/>
          <a:ln/>
        </p:spPr>
        <p:txBody>
          <a:bodyPr wrap="square" lIns="0" tIns="0" rIns="0" bIns="0" rtlCol="0" anchor="ctr"/>
          <a:lstStyle/>
          <a:p>
            <a:pPr marL="0" indent="0" algn="r">
              <a:buNone/>
            </a:pPr>
            <a:r>
              <a:rPr lang="en-US" sz="900" i="1" dirty="0">
                <a:solidFill>
                  <a:srgbClr val="595959"/>
                </a:solidFill>
                <a:latin typeface="Arial" pitchFamily="34" charset="0"/>
                <a:ea typeface="Arial" pitchFamily="34" charset="-122"/>
                <a:cs typeface="Arial" pitchFamily="34" charset="-120"/>
              </a:rPr>
              <a:t>within 3 hours</a:t>
            </a:r>
            <a:endParaRPr lang="en-US" sz="900" dirty="0"/>
          </a:p>
        </p:txBody>
      </p:sp>
      <p:sp>
        <p:nvSpPr>
          <p:cNvPr id="11" name="Text 8"/>
          <p:cNvSpPr/>
          <p:nvPr/>
        </p:nvSpPr>
        <p:spPr>
          <a:xfrm>
            <a:off x="685800" y="4160520"/>
            <a:ext cx="5074920" cy="320040"/>
          </a:xfrm>
          <a:prstGeom prst="rect">
            <a:avLst/>
          </a:prstGeom>
          <a:noFill/>
          <a:ln/>
        </p:spPr>
        <p:txBody>
          <a:bodyPr wrap="square" lIns="0" tIns="0" rIns="0" bIns="0" rtlCol="0" anchor="ctr"/>
          <a:lstStyle/>
          <a:p>
            <a:pPr marL="0" indent="0" algn="ctr">
              <a:buNone/>
            </a:pPr>
            <a:r>
              <a:rPr lang="en-US" sz="1000" i="1" dirty="0">
                <a:solidFill>
                  <a:srgbClr val="595959"/>
                </a:solidFill>
                <a:latin typeface="Arial" pitchFamily="34" charset="0"/>
                <a:ea typeface="Arial" pitchFamily="34" charset="-122"/>
                <a:cs typeface="Arial" pitchFamily="34" charset="-120"/>
              </a:rPr>
              <a:t>Most of the 6.5m population sits inside MXP's primary catchment, not Genoa's.</a:t>
            </a:r>
            <a:endParaRPr lang="en-US" sz="1000" dirty="0"/>
          </a:p>
        </p:txBody>
      </p:sp>
      <p:sp>
        <p:nvSpPr>
          <p:cNvPr id="12" name="Shape 9"/>
          <p:cNvSpPr/>
          <p:nvPr/>
        </p:nvSpPr>
        <p:spPr>
          <a:xfrm>
            <a:off x="6172200" y="1783080"/>
            <a:ext cx="5532120" cy="2788920"/>
          </a:xfrm>
          <a:prstGeom prst="rect">
            <a:avLst/>
          </a:prstGeom>
          <a:solidFill>
            <a:srgbClr val="DEEBF7"/>
          </a:solidFill>
          <a:ln w="12700">
            <a:solidFill>
              <a:srgbClr val="2F5496"/>
            </a:solidFill>
            <a:prstDash val="solid"/>
          </a:ln>
        </p:spPr>
      </p:sp>
      <p:pic>
        <p:nvPicPr>
          <p:cNvPr id="13" name="Image 1" descr="map_right_defendable.png"/>
          <p:cNvPicPr>
            <a:picLocks noChangeAspect="1"/>
          </p:cNvPicPr>
          <p:nvPr/>
        </p:nvPicPr>
        <p:blipFill>
          <a:blip r:embed="rId4"/>
          <a:srcRect/>
          <a:stretch/>
        </p:blipFill>
        <p:spPr>
          <a:xfrm>
            <a:off x="6245352" y="2423160"/>
            <a:ext cx="5385816" cy="1691640"/>
          </a:xfrm>
          <a:prstGeom prst="rect">
            <a:avLst/>
          </a:prstGeom>
        </p:spPr>
      </p:pic>
      <p:sp>
        <p:nvSpPr>
          <p:cNvPr id="14" name="Text 10"/>
          <p:cNvSpPr/>
          <p:nvPr/>
        </p:nvSpPr>
        <p:spPr>
          <a:xfrm>
            <a:off x="6400800" y="1874520"/>
            <a:ext cx="507492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Defendable catchment</a:t>
            </a:r>
            <a:endParaRPr lang="en-US" sz="1300" dirty="0"/>
          </a:p>
        </p:txBody>
      </p:sp>
      <p:sp>
        <p:nvSpPr>
          <p:cNvPr id="15" name="Text 11"/>
          <p:cNvSpPr/>
          <p:nvPr/>
        </p:nvSpPr>
        <p:spPr>
          <a:xfrm>
            <a:off x="6400800" y="2148840"/>
            <a:ext cx="5074920" cy="228600"/>
          </a:xfrm>
          <a:prstGeom prst="rect">
            <a:avLst/>
          </a:prstGeom>
          <a:noFill/>
          <a:ln/>
        </p:spPr>
        <p:txBody>
          <a:bodyPr wrap="square" lIns="0" tIns="0" rIns="0" bIns="0" rtlCol="0" anchor="ctr"/>
          <a:lstStyle/>
          <a:p>
            <a:pPr marL="0" indent="0">
              <a:buNone/>
            </a:pPr>
            <a:r>
              <a:rPr lang="en-US" sz="1000" b="1" i="1" dirty="0">
                <a:solidFill>
                  <a:srgbClr val="2F5496"/>
                </a:solidFill>
                <a:latin typeface="Arial" pitchFamily="34" charset="0"/>
                <a:ea typeface="Arial" pitchFamily="34" charset="-122"/>
                <a:cs typeface="Arial" pitchFamily="34" charset="-120"/>
              </a:rPr>
              <a:t>60 to 90 minutes by road, the analytical anchor</a:t>
            </a:r>
            <a:endParaRPr lang="en-US" sz="1000" dirty="0"/>
          </a:p>
        </p:txBody>
      </p:sp>
      <p:sp>
        <p:nvSpPr>
          <p:cNvPr id="16" name="Text 12"/>
          <p:cNvSpPr/>
          <p:nvPr/>
        </p:nvSpPr>
        <p:spPr>
          <a:xfrm>
            <a:off x="9509760" y="1874520"/>
            <a:ext cx="2057400" cy="411480"/>
          </a:xfrm>
          <a:prstGeom prst="rect">
            <a:avLst/>
          </a:prstGeom>
          <a:noFill/>
          <a:ln/>
        </p:spPr>
        <p:txBody>
          <a:bodyPr wrap="square" lIns="0" tIns="0" rIns="0" bIns="0" rtlCol="0" anchor="ctr"/>
          <a:lstStyle/>
          <a:p>
            <a:pPr marL="0" indent="0" algn="r">
              <a:buNone/>
            </a:pPr>
            <a:r>
              <a:rPr lang="en-US" sz="2200" b="1" dirty="0">
                <a:solidFill>
                  <a:srgbClr val="1F3864"/>
                </a:solidFill>
                <a:latin typeface="Arial" pitchFamily="34" charset="0"/>
                <a:ea typeface="Arial" pitchFamily="34" charset="-122"/>
                <a:cs typeface="Arial" pitchFamily="34" charset="-120"/>
              </a:rPr>
              <a:t>1.5m / 3.2m</a:t>
            </a:r>
            <a:endParaRPr lang="en-US" sz="2200" dirty="0"/>
          </a:p>
        </p:txBody>
      </p:sp>
      <p:sp>
        <p:nvSpPr>
          <p:cNvPr id="17" name="Text 13"/>
          <p:cNvSpPr/>
          <p:nvPr/>
        </p:nvSpPr>
        <p:spPr>
          <a:xfrm>
            <a:off x="9509760" y="2240280"/>
            <a:ext cx="2057400" cy="228600"/>
          </a:xfrm>
          <a:prstGeom prst="rect">
            <a:avLst/>
          </a:prstGeom>
          <a:noFill/>
          <a:ln/>
        </p:spPr>
        <p:txBody>
          <a:bodyPr wrap="square" lIns="0" tIns="0" rIns="0" bIns="0" rtlCol="0" anchor="ctr"/>
          <a:lstStyle/>
          <a:p>
            <a:pPr marL="0" indent="0" algn="r">
              <a:buNone/>
            </a:pPr>
            <a:r>
              <a:rPr lang="en-US" sz="900" i="1" dirty="0">
                <a:solidFill>
                  <a:srgbClr val="595959"/>
                </a:solidFill>
                <a:latin typeface="Arial" pitchFamily="34" charset="0"/>
                <a:ea typeface="Arial" pitchFamily="34" charset="-122"/>
                <a:cs typeface="Arial" pitchFamily="34" charset="-120"/>
              </a:rPr>
              <a:t>at 60 / 90 min</a:t>
            </a:r>
            <a:endParaRPr lang="en-US" sz="900" dirty="0"/>
          </a:p>
        </p:txBody>
      </p:sp>
      <p:sp>
        <p:nvSpPr>
          <p:cNvPr id="18" name="Text 14"/>
          <p:cNvSpPr/>
          <p:nvPr/>
        </p:nvSpPr>
        <p:spPr>
          <a:xfrm>
            <a:off x="6400800" y="4160520"/>
            <a:ext cx="5074920" cy="320040"/>
          </a:xfrm>
          <a:prstGeom prst="rect">
            <a:avLst/>
          </a:prstGeom>
          <a:noFill/>
          <a:ln/>
        </p:spPr>
        <p:txBody>
          <a:bodyPr wrap="square" lIns="0" tIns="0" rIns="0" bIns="0" rtlCol="0" anchor="ctr"/>
          <a:lstStyle/>
          <a:p>
            <a:pPr marL="0" indent="0" algn="ctr">
              <a:buNone/>
            </a:pPr>
            <a:r>
              <a:rPr lang="en-US" sz="1000" i="1" dirty="0">
                <a:solidFill>
                  <a:srgbClr val="1F3864"/>
                </a:solidFill>
                <a:latin typeface="Arial" pitchFamily="34" charset="0"/>
                <a:ea typeface="Arial" pitchFamily="34" charset="-122"/>
                <a:cs typeface="Arial" pitchFamily="34" charset="-120"/>
              </a:rPr>
              <a:t>Province of Genoa is the largest defendable zone; airline planners can verify with point-of-origin data.</a:t>
            </a:r>
            <a:endParaRPr lang="en-US" sz="1000" dirty="0"/>
          </a:p>
        </p:txBody>
      </p:sp>
      <p:sp>
        <p:nvSpPr>
          <p:cNvPr id="19" name="Text 15"/>
          <p:cNvSpPr/>
          <p:nvPr/>
        </p:nvSpPr>
        <p:spPr>
          <a:xfrm>
            <a:off x="457200" y="4709160"/>
            <a:ext cx="11247120" cy="256032"/>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Defendable catchment breakdown</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5001768"/>
          <a:ext cx="11247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237744">
                <a:tc>
                  <a:txBody>
                    <a:bodyPr/>
                    <a:lstStyle/>
                    <a:p>
                      <a:pPr marL="0" indent="0">
                        <a:buNone/>
                      </a:pPr>
                      <a:r>
                        <a:rPr lang="en-US" sz="1000" b="1" dirty="0">
                          <a:solidFill>
                            <a:srgbClr val="FFFFFF"/>
                          </a:solidFill>
                          <a:latin typeface="Arial" pitchFamily="34" charset="0"/>
                          <a:ea typeface="Arial" pitchFamily="34" charset="-122"/>
                          <a:cs typeface="Arial" pitchFamily="34" charset="-120"/>
                        </a:rPr>
                        <a:t>Zone</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Drive time</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Population</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Primary competitor</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Defendability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37744">
                <a:tc>
                  <a:txBody>
                    <a:bodyPr/>
                    <a:lstStyle/>
                    <a:p>
                      <a:pPr marL="0" indent="0">
                        <a:buNone/>
                      </a:pPr>
                      <a:r>
                        <a:rPr lang="en-US" sz="1000" dirty="0">
                          <a:solidFill>
                            <a:srgbClr val="2A2A2A"/>
                          </a:solidFill>
                          <a:latin typeface="Arial" pitchFamily="34" charset="0"/>
                          <a:ea typeface="Arial" pitchFamily="34" charset="-122"/>
                          <a:cs typeface="Arial" pitchFamily="34" charset="-120"/>
                        </a:rPr>
                        <a:t>Province of Genoa (primary)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0-60 min</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2A2A2A"/>
                          </a:solidFill>
                          <a:latin typeface="Arial" pitchFamily="34" charset="0"/>
                          <a:ea typeface="Arial" pitchFamily="34" charset="-122"/>
                          <a:cs typeface="Arial" pitchFamily="34" charset="-120"/>
                        </a:rPr>
                        <a:t>c.1.5m</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None (GOA closest)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548235"/>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1000" dirty="0">
                          <a:solidFill>
                            <a:srgbClr val="2A2A2A"/>
                          </a:solidFill>
                          <a:latin typeface="Arial" pitchFamily="34" charset="0"/>
                          <a:ea typeface="Arial" pitchFamily="34" charset="-122"/>
                          <a:cs typeface="Arial" pitchFamily="34" charset="-120"/>
                        </a:rPr>
                        <a:t>Inner Liguria (secondary)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60-90 min</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2A2A2A"/>
                          </a:solidFill>
                          <a:latin typeface="Arial" pitchFamily="34" charset="0"/>
                          <a:ea typeface="Arial" pitchFamily="34" charset="-122"/>
                          <a:cs typeface="Arial" pitchFamily="34" charset="-120"/>
                        </a:rPr>
                        <a:t>c.1.7m (cumulative 3.2m)</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Pisa / Nice at outer edge</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548235"/>
                          </a:solidFill>
                          <a:latin typeface="Arial" pitchFamily="34" charset="0"/>
                          <a:ea typeface="Arial" pitchFamily="34" charset="-122"/>
                          <a:cs typeface="Arial" pitchFamily="34" charset="-120"/>
                        </a:rPr>
                        <a:t>Medium-High</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37744">
                <a:tc>
                  <a:txBody>
                    <a:bodyPr/>
                    <a:lstStyle/>
                    <a:p>
                      <a:pPr marL="0" indent="0">
                        <a:buNone/>
                      </a:pPr>
                      <a:r>
                        <a:rPr lang="en-US" sz="1000" dirty="0">
                          <a:solidFill>
                            <a:srgbClr val="2A2A2A"/>
                          </a:solidFill>
                          <a:latin typeface="Arial" pitchFamily="34" charset="0"/>
                          <a:ea typeface="Arial" pitchFamily="34" charset="-122"/>
                          <a:cs typeface="Arial" pitchFamily="34" charset="-120"/>
                        </a:rPr>
                        <a:t>Southern Piedmont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90-120 min</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c.1.0m</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TRN (domestic feed)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BF8F00"/>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1000" dirty="0">
                          <a:solidFill>
                            <a:srgbClr val="2A2A2A"/>
                          </a:solidFill>
                          <a:latin typeface="Arial" pitchFamily="34" charset="0"/>
                          <a:ea typeface="Arial" pitchFamily="34" charset="-122"/>
                          <a:cs typeface="Arial" pitchFamily="34" charset="-120"/>
                        </a:rPr>
                        <a:t>Milan area</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120-150 min</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c.3.5m</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dirty="0">
                          <a:solidFill>
                            <a:srgbClr val="2A2A2A"/>
                          </a:solidFill>
                          <a:latin typeface="Arial" pitchFamily="34" charset="0"/>
                          <a:ea typeface="Arial" pitchFamily="34" charset="-122"/>
                          <a:cs typeface="Arial" pitchFamily="34" charset="-120"/>
                        </a:rPr>
                        <a:t>MXP / LIN direct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C00000"/>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bl>
          </a:graphicData>
        </a:graphic>
      </p:graphicFrame>
      <p:sp>
        <p:nvSpPr>
          <p:cNvPr id="21" name="Text 16"/>
          <p:cNvSpPr/>
          <p:nvPr/>
        </p:nvSpPr>
        <p:spPr>
          <a:xfrm>
            <a:off x="457200" y="6263640"/>
            <a:ext cx="11247120" cy="22860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Source: ISTAT population data, Natural Earth, Avia Solutions analysis. Drive-time zones illustrative; Stage 1 would establish using point-of-origin data.</a:t>
            </a:r>
            <a:endParaRPr lang="en-US" sz="900" dirty="0"/>
          </a:p>
        </p:txBody>
      </p:sp>
      <p:sp>
        <p:nvSpPr>
          <p:cNvPr id="22" name="Text 17"/>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3" name="Text 18"/>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The leakage hypothesis</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Even modest recapture from MXP could multiply Genoa's addressable market</a:t>
            </a:r>
            <a:endParaRPr lang="en-US" sz="1300" dirty="0"/>
          </a:p>
        </p:txBody>
      </p:sp>
      <p:sp>
        <p:nvSpPr>
          <p:cNvPr id="4" name="Text 2"/>
          <p:cNvSpPr/>
          <p:nvPr/>
        </p:nvSpPr>
        <p:spPr>
          <a:xfrm>
            <a:off x="457200" y="1188720"/>
            <a:ext cx="11247120" cy="822960"/>
          </a:xfrm>
          <a:prstGeom prst="rect">
            <a:avLst/>
          </a:prstGeom>
          <a:noFill/>
          <a:ln/>
        </p:spPr>
        <p:txBody>
          <a:bodyPr wrap="square" lIns="0" tIns="0" rIns="0" bIns="0" rtlCol="0" anchor="t"/>
          <a:lstStyle/>
          <a:p>
            <a:pPr marL="0" indent="0">
              <a:buNone/>
            </a:pPr>
            <a:r>
              <a:rPr lang="en-US" sz="1300" dirty="0">
                <a:solidFill>
                  <a:srgbClr val="2A2A2A"/>
                </a:solidFill>
                <a:latin typeface="Arial" pitchFamily="34" charset="0"/>
                <a:ea typeface="Arial" pitchFamily="34" charset="-122"/>
                <a:cs typeface="Arial" pitchFamily="34" charset="-120"/>
              </a:rPr>
              <a:t>MXP carries 708,000 passengers to NYC each year, 92% of them direct, drawn from a wide Italian catchment. Point of sale confirms Genoa-area leakage but cannot size it. Sizing the repatriable traffic is the Stage 1 question.</a:t>
            </a:r>
            <a:endParaRPr lang="en-US" sz="1300" dirty="0"/>
          </a:p>
        </p:txBody>
      </p:sp>
      <p:sp>
        <p:nvSpPr>
          <p:cNvPr id="5" name="Shape 3"/>
          <p:cNvSpPr/>
          <p:nvPr/>
        </p:nvSpPr>
        <p:spPr>
          <a:xfrm>
            <a:off x="525780" y="2286000"/>
            <a:ext cx="3611880" cy="1463040"/>
          </a:xfrm>
          <a:prstGeom prst="rect">
            <a:avLst/>
          </a:prstGeom>
          <a:solidFill>
            <a:srgbClr val="F7F9FC"/>
          </a:solidFill>
          <a:ln w="6350">
            <a:solidFill>
              <a:srgbClr val="BFBFBF"/>
            </a:solidFill>
            <a:prstDash val="solid"/>
          </a:ln>
        </p:spPr>
      </p:sp>
      <p:sp>
        <p:nvSpPr>
          <p:cNvPr id="6" name="Text 4"/>
          <p:cNvSpPr/>
          <p:nvPr/>
        </p:nvSpPr>
        <p:spPr>
          <a:xfrm>
            <a:off x="800100" y="2377440"/>
            <a:ext cx="3063240" cy="548640"/>
          </a:xfrm>
          <a:prstGeom prst="rect">
            <a:avLst/>
          </a:prstGeom>
          <a:noFill/>
          <a:ln/>
        </p:spPr>
        <p:txBody>
          <a:bodyPr wrap="square" lIns="0" tIns="0" rIns="0" bIns="0" rtlCol="0" anchor="ctr"/>
          <a:lstStyle/>
          <a:p>
            <a:pPr marL="0" indent="0">
              <a:buNone/>
            </a:pPr>
            <a:r>
              <a:rPr lang="en-US" sz="3800" b="1" dirty="0">
                <a:solidFill>
                  <a:srgbClr val="1F3864"/>
                </a:solidFill>
                <a:latin typeface="Arial" pitchFamily="34" charset="0"/>
                <a:ea typeface="Arial" pitchFamily="34" charset="-122"/>
                <a:cs typeface="Arial" pitchFamily="34" charset="-120"/>
              </a:rPr>
              <a:t>9.3k</a:t>
            </a:r>
            <a:endParaRPr lang="en-US" sz="3800" dirty="0"/>
          </a:p>
        </p:txBody>
      </p:sp>
      <p:sp>
        <p:nvSpPr>
          <p:cNvPr id="7" name="Text 5"/>
          <p:cNvSpPr/>
          <p:nvPr/>
        </p:nvSpPr>
        <p:spPr>
          <a:xfrm>
            <a:off x="800100" y="2971800"/>
            <a:ext cx="306324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GOA-NYC today</a:t>
            </a:r>
            <a:endParaRPr lang="en-US" sz="1300" dirty="0"/>
          </a:p>
        </p:txBody>
      </p:sp>
      <p:sp>
        <p:nvSpPr>
          <p:cNvPr id="8" name="Text 6"/>
          <p:cNvSpPr/>
          <p:nvPr/>
        </p:nvSpPr>
        <p:spPr>
          <a:xfrm>
            <a:off x="800100" y="3246120"/>
            <a:ext cx="3063240" cy="457200"/>
          </a:xfrm>
          <a:prstGeom prst="rect">
            <a:avLst/>
          </a:prstGeom>
          <a:noFill/>
          <a:ln/>
        </p:spPr>
        <p:txBody>
          <a:bodyPr wrap="square" lIns="0" tIns="0" rIns="0" bIns="0" rtlCol="0" anchor="t"/>
          <a:lstStyle/>
          <a:p>
            <a:pPr marL="0" indent="0">
              <a:buNone/>
            </a:pPr>
            <a:r>
              <a:rPr lang="en-US" sz="1000" i="1" dirty="0">
                <a:solidFill>
                  <a:srgbClr val="595959"/>
                </a:solidFill>
                <a:latin typeface="Arial" pitchFamily="34" charset="0"/>
                <a:ea typeface="Arial" pitchFamily="34" charset="-122"/>
                <a:cs typeface="Arial" pitchFamily="34" charset="-120"/>
              </a:rPr>
              <a:t>Annual O&amp;D 2025, all routed indirectly. Growing +12% on 2024</a:t>
            </a:r>
            <a:endParaRPr lang="en-US" sz="1000" dirty="0"/>
          </a:p>
        </p:txBody>
      </p:sp>
      <p:sp>
        <p:nvSpPr>
          <p:cNvPr id="9" name="Shape 7"/>
          <p:cNvSpPr/>
          <p:nvPr/>
        </p:nvSpPr>
        <p:spPr>
          <a:xfrm>
            <a:off x="4274820" y="2286000"/>
            <a:ext cx="3611880" cy="1463040"/>
          </a:xfrm>
          <a:prstGeom prst="rect">
            <a:avLst/>
          </a:prstGeom>
          <a:solidFill>
            <a:srgbClr val="F7F9FC"/>
          </a:solidFill>
          <a:ln w="6350">
            <a:solidFill>
              <a:srgbClr val="BFBFBF"/>
            </a:solidFill>
            <a:prstDash val="solid"/>
          </a:ln>
        </p:spPr>
      </p:sp>
      <p:sp>
        <p:nvSpPr>
          <p:cNvPr id="10" name="Text 8"/>
          <p:cNvSpPr/>
          <p:nvPr/>
        </p:nvSpPr>
        <p:spPr>
          <a:xfrm>
            <a:off x="4549140" y="2377440"/>
            <a:ext cx="3063240" cy="548640"/>
          </a:xfrm>
          <a:prstGeom prst="rect">
            <a:avLst/>
          </a:prstGeom>
          <a:noFill/>
          <a:ln/>
        </p:spPr>
        <p:txBody>
          <a:bodyPr wrap="square" lIns="0" tIns="0" rIns="0" bIns="0" rtlCol="0" anchor="ctr"/>
          <a:lstStyle/>
          <a:p>
            <a:pPr marL="0" indent="0">
              <a:buNone/>
            </a:pPr>
            <a:r>
              <a:rPr lang="en-US" sz="3800" b="1" dirty="0">
                <a:solidFill>
                  <a:srgbClr val="2F5496"/>
                </a:solidFill>
                <a:latin typeface="Arial" pitchFamily="34" charset="0"/>
                <a:ea typeface="Arial" pitchFamily="34" charset="-122"/>
                <a:cs typeface="Arial" pitchFamily="34" charset="-120"/>
              </a:rPr>
              <a:t>708k</a:t>
            </a:r>
            <a:endParaRPr lang="en-US" sz="3800" dirty="0"/>
          </a:p>
        </p:txBody>
      </p:sp>
      <p:sp>
        <p:nvSpPr>
          <p:cNvPr id="11" name="Text 9"/>
          <p:cNvSpPr/>
          <p:nvPr/>
        </p:nvSpPr>
        <p:spPr>
          <a:xfrm>
            <a:off x="4549140" y="2971800"/>
            <a:ext cx="306324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MXP-NYC today</a:t>
            </a:r>
            <a:endParaRPr lang="en-US" sz="1300" dirty="0"/>
          </a:p>
        </p:txBody>
      </p:sp>
      <p:sp>
        <p:nvSpPr>
          <p:cNvPr id="12" name="Text 10"/>
          <p:cNvSpPr/>
          <p:nvPr/>
        </p:nvSpPr>
        <p:spPr>
          <a:xfrm>
            <a:off x="4549140" y="3246120"/>
            <a:ext cx="3063240" cy="457200"/>
          </a:xfrm>
          <a:prstGeom prst="rect">
            <a:avLst/>
          </a:prstGeom>
          <a:noFill/>
          <a:ln/>
        </p:spPr>
        <p:txBody>
          <a:bodyPr wrap="square" lIns="0" tIns="0" rIns="0" bIns="0" rtlCol="0" anchor="t"/>
          <a:lstStyle/>
          <a:p>
            <a:pPr marL="0" indent="0">
              <a:buNone/>
            </a:pPr>
            <a:r>
              <a:rPr lang="en-US" sz="1000" i="1" dirty="0">
                <a:solidFill>
                  <a:srgbClr val="595959"/>
                </a:solidFill>
                <a:latin typeface="Arial" pitchFamily="34" charset="0"/>
                <a:ea typeface="Arial" pitchFamily="34" charset="-122"/>
                <a:cs typeface="Arial" pitchFamily="34" charset="-120"/>
              </a:rPr>
              <a:t>Annual O&amp;D 2025, 92% direct, 2.5 hours from Genoa by road</a:t>
            </a:r>
            <a:endParaRPr lang="en-US" sz="1000" dirty="0"/>
          </a:p>
        </p:txBody>
      </p:sp>
      <p:sp>
        <p:nvSpPr>
          <p:cNvPr id="13" name="Shape 11"/>
          <p:cNvSpPr/>
          <p:nvPr/>
        </p:nvSpPr>
        <p:spPr>
          <a:xfrm>
            <a:off x="8023860" y="2286000"/>
            <a:ext cx="3611880" cy="1463040"/>
          </a:xfrm>
          <a:prstGeom prst="rect">
            <a:avLst/>
          </a:prstGeom>
          <a:solidFill>
            <a:srgbClr val="F7F9FC"/>
          </a:solidFill>
          <a:ln w="6350">
            <a:solidFill>
              <a:srgbClr val="BFBFBF"/>
            </a:solidFill>
            <a:prstDash val="solid"/>
          </a:ln>
        </p:spPr>
      </p:sp>
      <p:sp>
        <p:nvSpPr>
          <p:cNvPr id="14" name="Text 12"/>
          <p:cNvSpPr/>
          <p:nvPr/>
        </p:nvSpPr>
        <p:spPr>
          <a:xfrm>
            <a:off x="8298180" y="2377440"/>
            <a:ext cx="3063240" cy="548640"/>
          </a:xfrm>
          <a:prstGeom prst="rect">
            <a:avLst/>
          </a:prstGeom>
          <a:noFill/>
          <a:ln/>
        </p:spPr>
        <p:txBody>
          <a:bodyPr wrap="square" lIns="0" tIns="0" rIns="0" bIns="0" rtlCol="0" anchor="ctr"/>
          <a:lstStyle/>
          <a:p>
            <a:pPr marL="0" indent="0">
              <a:buNone/>
            </a:pPr>
            <a:r>
              <a:rPr lang="en-US" sz="3800" b="1" dirty="0">
                <a:solidFill>
                  <a:srgbClr val="BF8F00"/>
                </a:solidFill>
                <a:latin typeface="Arial" pitchFamily="34" charset="0"/>
                <a:ea typeface="Arial" pitchFamily="34" charset="-122"/>
                <a:cs typeface="Arial" pitchFamily="34" charset="-120"/>
              </a:rPr>
              <a:t>1,507</a:t>
            </a:r>
            <a:endParaRPr lang="en-US" sz="3800" dirty="0"/>
          </a:p>
        </p:txBody>
      </p:sp>
      <p:sp>
        <p:nvSpPr>
          <p:cNvPr id="15" name="Text 13"/>
          <p:cNvSpPr/>
          <p:nvPr/>
        </p:nvSpPr>
        <p:spPr>
          <a:xfrm>
            <a:off x="8298180" y="2971800"/>
            <a:ext cx="306324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Identifiable floor</a:t>
            </a:r>
            <a:endParaRPr lang="en-US" sz="1300" dirty="0"/>
          </a:p>
        </p:txBody>
      </p:sp>
      <p:sp>
        <p:nvSpPr>
          <p:cNvPr id="16" name="Text 14"/>
          <p:cNvSpPr/>
          <p:nvPr/>
        </p:nvSpPr>
        <p:spPr>
          <a:xfrm>
            <a:off x="8298180" y="3246120"/>
            <a:ext cx="3063240" cy="457200"/>
          </a:xfrm>
          <a:prstGeom prst="rect">
            <a:avLst/>
          </a:prstGeom>
          <a:noFill/>
          <a:ln/>
        </p:spPr>
        <p:txBody>
          <a:bodyPr wrap="square" lIns="0" tIns="0" rIns="0" bIns="0" rtlCol="0" anchor="t"/>
          <a:lstStyle/>
          <a:p>
            <a:pPr marL="0" indent="0">
              <a:buNone/>
            </a:pPr>
            <a:r>
              <a:rPr lang="en-US" sz="1000" i="1" dirty="0">
                <a:solidFill>
                  <a:srgbClr val="595959"/>
                </a:solidFill>
                <a:latin typeface="Arial" pitchFamily="34" charset="0"/>
                <a:ea typeface="Arial" pitchFamily="34" charset="-122"/>
                <a:cs typeface="Arial" pitchFamily="34" charset="-120"/>
              </a:rPr>
              <a:t>Genoa-area MXP-NYC tickets by point of sale, 0.2% of total. Floor only; agencies issue in Milan and Rome</a:t>
            </a:r>
            <a:endParaRPr lang="en-US" sz="1000" dirty="0"/>
          </a:p>
        </p:txBody>
      </p:sp>
      <p:sp>
        <p:nvSpPr>
          <p:cNvPr id="17" name="Text 15"/>
          <p:cNvSpPr/>
          <p:nvPr/>
        </p:nvSpPr>
        <p:spPr>
          <a:xfrm>
            <a:off x="457200" y="4114800"/>
            <a:ext cx="11247120" cy="32004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Illustrative scenarios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480560"/>
          <a:ext cx="112471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292608">
                <a:tc>
                  <a:txBody>
                    <a:bodyPr/>
                    <a:lstStyle/>
                    <a:p>
                      <a:pPr marL="0" indent="0">
                        <a:buNone/>
                      </a:pPr>
                      <a:r>
                        <a:rPr lang="en-US" sz="1100" b="1" dirty="0">
                          <a:solidFill>
                            <a:srgbClr val="FFFFFF"/>
                          </a:solidFill>
                          <a:latin typeface="Arial" pitchFamily="34" charset="0"/>
                          <a:ea typeface="Arial" pitchFamily="34" charset="-122"/>
                          <a:cs typeface="Arial" pitchFamily="34" charset="-120"/>
                        </a:rPr>
                        <a:t>Scenario</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Defendable MXP share</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MXP recapture rate</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Stimulation factor</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Indicative annual O&amp;D</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2A2A2A"/>
                          </a:solidFill>
                          <a:latin typeface="Arial" pitchFamily="34" charset="0"/>
                          <a:ea typeface="Arial" pitchFamily="34" charset="-122"/>
                          <a:cs typeface="Arial" pitchFamily="34" charset="-120"/>
                        </a:rPr>
                        <a:t>Conservative</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1.5x</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c.40k</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2A2A2A"/>
                          </a:solidFill>
                          <a:latin typeface="Arial" pitchFamily="34" charset="0"/>
                          <a:ea typeface="Arial" pitchFamily="34" charset="-122"/>
                          <a:cs typeface="Arial" pitchFamily="34" charset="-120"/>
                        </a:rPr>
                        <a:t>Mid</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1.8x</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c.75k</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2A2A2A"/>
                          </a:solidFill>
                          <a:latin typeface="Arial" pitchFamily="34" charset="0"/>
                          <a:ea typeface="Arial" pitchFamily="34" charset="-122"/>
                          <a:cs typeface="Arial" pitchFamily="34" charset="-120"/>
                        </a:rPr>
                        <a:t>Optimistic</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2.0x</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c.115k</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9" name="Text 16"/>
          <p:cNvSpPr/>
          <p:nvPr/>
        </p:nvSpPr>
        <p:spPr>
          <a:xfrm>
            <a:off x="457200" y="5852160"/>
            <a:ext cx="11247120" cy="320040"/>
          </a:xfrm>
          <a:prstGeom prst="rect">
            <a:avLst/>
          </a:prstGeom>
          <a:noFill/>
          <a:ln/>
        </p:spPr>
        <p:txBody>
          <a:bodyPr wrap="square" lIns="0" tIns="0" rIns="0" bIns="0" rtlCol="0" anchor="ctr"/>
          <a:lstStyle/>
          <a:p>
            <a:pPr marL="0" indent="0" algn="ctr">
              <a:buNone/>
            </a:pPr>
            <a:r>
              <a:rPr lang="en-US" sz="1000" i="1" dirty="0">
                <a:solidFill>
                  <a:srgbClr val="C00000"/>
                </a:solidFill>
                <a:latin typeface="Arial" pitchFamily="34" charset="0"/>
                <a:ea typeface="Arial" pitchFamily="34" charset="-122"/>
                <a:cs typeface="Arial" pitchFamily="34" charset="-120"/>
              </a:rPr>
              <a:t>Scenarios are illustrative. Comparable launches show the stimulation is real: Catania's NYC market rose c.43% in year one of Delta nonstop (2025). Stage 1 would establish Genoa's own defendable share, recapture and stimulation.</a:t>
            </a:r>
            <a:endParaRPr lang="en-US" sz="1000" dirty="0"/>
          </a:p>
        </p:txBody>
      </p:sp>
      <p:sp>
        <p:nvSpPr>
          <p:cNvPr id="20" name="Text 17"/>
          <p:cNvSpPr/>
          <p:nvPr/>
        </p:nvSpPr>
        <p:spPr>
          <a:xfrm>
            <a:off x="457200" y="6172200"/>
            <a:ext cx="11247120" cy="22860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Source: Sabre MIDT 2025 full-year and Milan-NYC point-of-sale extract (Mar 2025-Feb 2026). stimulation cross-checked against comparable secondary-city launches. Avia Solutions analysis.</a:t>
            </a:r>
            <a:endParaRPr lang="en-US" sz="900" dirty="0"/>
          </a:p>
        </p:txBody>
      </p:sp>
      <p:sp>
        <p:nvSpPr>
          <p:cNvPr id="21" name="Text 18"/>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2" name="Text 19"/>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Shape of demand and inbound drivers</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A leisure-weighted Atlantic profile, peak-to-trough c.1.9x</a:t>
            </a:r>
            <a:endParaRPr lang="en-US" sz="1300" dirty="0"/>
          </a:p>
        </p:txBody>
      </p:sp>
      <p:sp>
        <p:nvSpPr>
          <p:cNvPr id="4" name="Text 2"/>
          <p:cNvSpPr/>
          <p:nvPr/>
        </p:nvSpPr>
        <p:spPr>
          <a:xfrm>
            <a:off x="457200" y="1188720"/>
            <a:ext cx="11247120" cy="914400"/>
          </a:xfrm>
          <a:prstGeom prst="rect">
            <a:avLst/>
          </a:prstGeom>
          <a:noFill/>
          <a:ln/>
        </p:spPr>
        <p:txBody>
          <a:bodyPr wrap="square" lIns="0" tIns="0" rIns="0" bIns="0" rtlCol="0" anchor="t"/>
          <a:lstStyle/>
          <a:p>
            <a:pPr marL="0" indent="0">
              <a:buNone/>
            </a:pPr>
            <a:r>
              <a:rPr lang="en-US" sz="1100" dirty="0">
                <a:solidFill>
                  <a:srgbClr val="2A2A2A"/>
                </a:solidFill>
                <a:latin typeface="Arial" pitchFamily="34" charset="0"/>
                <a:ea typeface="Arial" pitchFamily="34" charset="-122"/>
                <a:cs typeface="Arial" pitchFamily="34" charset="-120"/>
              </a:rPr>
              <a:t>Italy to New York is a strongly seasonal market. Milan-NYC monthly data, March 2025 to February 2026, gives a fair proxy for the Genoa profile: an August peak at 132 (indexed, 100 = average month), a broad April to September plateau around 109 to 132, and a deep January and February trough at circa 70. A summer-weighted or summer-only operating model maps directly to this shape, supported by three concrete inbound demand drivers that anchor the seasonal case.</a:t>
            </a:r>
            <a:endParaRPr lang="en-US" sz="1100" dirty="0"/>
          </a:p>
        </p:txBody>
      </p:sp>
      <p:graphicFrame>
        <p:nvGraphicFramePr>
          <p:cNvPr id="5" name="Chart 0"/>
          <p:cNvGraphicFramePr/>
          <p:nvPr/>
        </p:nvGraphicFramePr>
        <p:xfrm>
          <a:off x="457200" y="2194560"/>
          <a:ext cx="749808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5532120"/>
            <a:ext cx="7498080" cy="22860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Source: Sabre point-of-sale extract for Milan-NYC, Mar 2025-Feb 2026 (761,356 passengers, both directions). Avia Solutions analysis.</a:t>
            </a:r>
            <a:endParaRPr lang="en-US" sz="900" dirty="0"/>
          </a:p>
        </p:txBody>
      </p:sp>
      <p:sp>
        <p:nvSpPr>
          <p:cNvPr id="7" name="Text 4"/>
          <p:cNvSpPr/>
          <p:nvPr/>
        </p:nvSpPr>
        <p:spPr>
          <a:xfrm>
            <a:off x="8138160" y="2194560"/>
            <a:ext cx="3566160" cy="27432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Inbound demand drivers</a:t>
            </a:r>
            <a:endParaRPr lang="en-US" sz="1200" dirty="0"/>
          </a:p>
        </p:txBody>
      </p:sp>
      <p:sp>
        <p:nvSpPr>
          <p:cNvPr id="8" name="Shape 5"/>
          <p:cNvSpPr/>
          <p:nvPr/>
        </p:nvSpPr>
        <p:spPr>
          <a:xfrm>
            <a:off x="8138160" y="2560320"/>
            <a:ext cx="3566160" cy="929640"/>
          </a:xfrm>
          <a:prstGeom prst="rect">
            <a:avLst/>
          </a:prstGeom>
          <a:solidFill>
            <a:srgbClr val="DEEBF7"/>
          </a:solidFill>
          <a:ln w="6350">
            <a:solidFill>
              <a:srgbClr val="8FAADC"/>
            </a:solidFill>
            <a:prstDash val="solid"/>
          </a:ln>
        </p:spPr>
      </p:sp>
      <p:sp>
        <p:nvSpPr>
          <p:cNvPr id="9" name="Text 6"/>
          <p:cNvSpPr/>
          <p:nvPr/>
        </p:nvSpPr>
        <p:spPr>
          <a:xfrm>
            <a:off x="8275320" y="2633472"/>
            <a:ext cx="3291840" cy="365760"/>
          </a:xfrm>
          <a:prstGeom prst="rect">
            <a:avLst/>
          </a:prstGeom>
          <a:noFill/>
          <a:ln/>
        </p:spPr>
        <p:txBody>
          <a:bodyPr wrap="square" lIns="0" tIns="0" rIns="0" bIns="0" rtlCol="0" anchor="ctr"/>
          <a:lstStyle/>
          <a:p>
            <a:pPr marL="0" indent="0">
              <a:buNone/>
            </a:pPr>
            <a:r>
              <a:rPr lang="en-US" sz="1900" b="1" dirty="0">
                <a:solidFill>
                  <a:srgbClr val="1F3864"/>
                </a:solidFill>
                <a:latin typeface="Arial" pitchFamily="34" charset="0"/>
                <a:ea typeface="Arial" pitchFamily="34" charset="-122"/>
                <a:cs typeface="Arial" pitchFamily="34" charset="-120"/>
              </a:rPr>
              <a:t>c.2.3m</a:t>
            </a:r>
            <a:endParaRPr lang="en-US" sz="1900" dirty="0"/>
          </a:p>
        </p:txBody>
      </p:sp>
      <p:sp>
        <p:nvSpPr>
          <p:cNvPr id="10" name="Text 7"/>
          <p:cNvSpPr/>
          <p:nvPr/>
        </p:nvSpPr>
        <p:spPr>
          <a:xfrm>
            <a:off x="8275320" y="2999232"/>
            <a:ext cx="3291840" cy="228600"/>
          </a:xfrm>
          <a:prstGeom prst="rect">
            <a:avLst/>
          </a:prstGeom>
          <a:noFill/>
          <a:ln/>
        </p:spPr>
        <p:txBody>
          <a:bodyPr wrap="square" lIns="0" tIns="0" rIns="0" bIns="0" rtlCol="0" anchor="ctr"/>
          <a:lstStyle/>
          <a:p>
            <a:pPr marL="0" indent="0">
              <a:buNone/>
            </a:pPr>
            <a:r>
              <a:rPr lang="en-US" sz="1100" b="1" dirty="0">
                <a:solidFill>
                  <a:srgbClr val="2F5496"/>
                </a:solidFill>
                <a:latin typeface="Arial" pitchFamily="34" charset="0"/>
                <a:ea typeface="Arial" pitchFamily="34" charset="-122"/>
                <a:cs typeface="Arial" pitchFamily="34" charset="-120"/>
              </a:rPr>
              <a:t>Cruise passengers</a:t>
            </a:r>
            <a:endParaRPr lang="en-US" sz="1100" dirty="0"/>
          </a:p>
        </p:txBody>
      </p:sp>
      <p:sp>
        <p:nvSpPr>
          <p:cNvPr id="11" name="Text 8"/>
          <p:cNvSpPr/>
          <p:nvPr/>
        </p:nvSpPr>
        <p:spPr>
          <a:xfrm>
            <a:off x="8275320" y="3227832"/>
            <a:ext cx="3291840" cy="198120"/>
          </a:xfrm>
          <a:prstGeom prst="rect">
            <a:avLst/>
          </a:prstGeom>
          <a:noFill/>
          <a:ln/>
        </p:spPr>
        <p:txBody>
          <a:bodyPr wrap="square" lIns="0" tIns="0" rIns="0" bIns="0" rtlCol="0" anchor="t"/>
          <a:lstStyle/>
          <a:p>
            <a:pPr marL="0" indent="0">
              <a:buNone/>
            </a:pPr>
            <a:r>
              <a:rPr lang="en-US" sz="900" i="1" dirty="0">
                <a:solidFill>
                  <a:srgbClr val="2A2A2A"/>
                </a:solidFill>
                <a:latin typeface="Arial" pitchFamily="34" charset="0"/>
                <a:ea typeface="Arial" pitchFamily="34" charset="-122"/>
                <a:cs typeface="Arial" pitchFamily="34" charset="-120"/>
              </a:rPr>
              <a:t>Genoa + Savona combined, 2024. Italy's second cruise hub.</a:t>
            </a:r>
            <a:endParaRPr lang="en-US" sz="900" dirty="0"/>
          </a:p>
        </p:txBody>
      </p:sp>
      <p:sp>
        <p:nvSpPr>
          <p:cNvPr id="12" name="Shape 9"/>
          <p:cNvSpPr/>
          <p:nvPr/>
        </p:nvSpPr>
        <p:spPr>
          <a:xfrm>
            <a:off x="8138160" y="3535680"/>
            <a:ext cx="3566160" cy="929640"/>
          </a:xfrm>
          <a:prstGeom prst="rect">
            <a:avLst/>
          </a:prstGeom>
          <a:solidFill>
            <a:srgbClr val="DEEBF7"/>
          </a:solidFill>
          <a:ln w="6350">
            <a:solidFill>
              <a:srgbClr val="8FAADC"/>
            </a:solidFill>
            <a:prstDash val="solid"/>
          </a:ln>
        </p:spPr>
      </p:sp>
      <p:sp>
        <p:nvSpPr>
          <p:cNvPr id="13" name="Text 10"/>
          <p:cNvSpPr/>
          <p:nvPr/>
        </p:nvSpPr>
        <p:spPr>
          <a:xfrm>
            <a:off x="8275320" y="3608832"/>
            <a:ext cx="3291840" cy="365760"/>
          </a:xfrm>
          <a:prstGeom prst="rect">
            <a:avLst/>
          </a:prstGeom>
          <a:noFill/>
          <a:ln/>
        </p:spPr>
        <p:txBody>
          <a:bodyPr wrap="square" lIns="0" tIns="0" rIns="0" bIns="0" rtlCol="0" anchor="ctr"/>
          <a:lstStyle/>
          <a:p>
            <a:pPr marL="0" indent="0">
              <a:buNone/>
            </a:pPr>
            <a:r>
              <a:rPr lang="en-US" sz="1900" b="1" dirty="0">
                <a:solidFill>
                  <a:srgbClr val="1F3864"/>
                </a:solidFill>
                <a:latin typeface="Arial" pitchFamily="34" charset="0"/>
                <a:ea typeface="Arial" pitchFamily="34" charset="-122"/>
                <a:cs typeface="Arial" pitchFamily="34" charset="-120"/>
              </a:rPr>
              <a:t>October</a:t>
            </a:r>
            <a:endParaRPr lang="en-US" sz="1900" dirty="0"/>
          </a:p>
        </p:txBody>
      </p:sp>
      <p:sp>
        <p:nvSpPr>
          <p:cNvPr id="14" name="Text 11"/>
          <p:cNvSpPr/>
          <p:nvPr/>
        </p:nvSpPr>
        <p:spPr>
          <a:xfrm>
            <a:off x="8275320" y="3974592"/>
            <a:ext cx="3291840" cy="228600"/>
          </a:xfrm>
          <a:prstGeom prst="rect">
            <a:avLst/>
          </a:prstGeom>
          <a:noFill/>
          <a:ln/>
        </p:spPr>
        <p:txBody>
          <a:bodyPr wrap="square" lIns="0" tIns="0" rIns="0" bIns="0" rtlCol="0" anchor="ctr"/>
          <a:lstStyle/>
          <a:p>
            <a:pPr marL="0" indent="0">
              <a:buNone/>
            </a:pPr>
            <a:r>
              <a:rPr lang="en-US" sz="1100" b="1" dirty="0">
                <a:solidFill>
                  <a:srgbClr val="2F5496"/>
                </a:solidFill>
                <a:latin typeface="Arial" pitchFamily="34" charset="0"/>
                <a:ea typeface="Arial" pitchFamily="34" charset="-122"/>
                <a:cs typeface="Arial" pitchFamily="34" charset="-120"/>
              </a:rPr>
              <a:t>Salone Nautico</a:t>
            </a:r>
            <a:endParaRPr lang="en-US" sz="1100" dirty="0"/>
          </a:p>
        </p:txBody>
      </p:sp>
      <p:sp>
        <p:nvSpPr>
          <p:cNvPr id="15" name="Text 12"/>
          <p:cNvSpPr/>
          <p:nvPr/>
        </p:nvSpPr>
        <p:spPr>
          <a:xfrm>
            <a:off x="8275320" y="4203192"/>
            <a:ext cx="3291840" cy="198120"/>
          </a:xfrm>
          <a:prstGeom prst="rect">
            <a:avLst/>
          </a:prstGeom>
          <a:noFill/>
          <a:ln/>
        </p:spPr>
        <p:txBody>
          <a:bodyPr wrap="square" lIns="0" tIns="0" rIns="0" bIns="0" rtlCol="0" anchor="t"/>
          <a:lstStyle/>
          <a:p>
            <a:pPr marL="0" indent="0">
              <a:buNone/>
            </a:pPr>
            <a:r>
              <a:rPr lang="en-US" sz="900" i="1" dirty="0">
                <a:solidFill>
                  <a:srgbClr val="2A2A2A"/>
                </a:solidFill>
                <a:latin typeface="Arial" pitchFamily="34" charset="0"/>
                <a:ea typeface="Arial" pitchFamily="34" charset="-122"/>
                <a:cs typeface="Arial" pitchFamily="34" charset="-120"/>
              </a:rPr>
              <a:t>International yacht trade fair. Datable premium spike.</a:t>
            </a:r>
            <a:endParaRPr lang="en-US" sz="900" dirty="0"/>
          </a:p>
        </p:txBody>
      </p:sp>
      <p:sp>
        <p:nvSpPr>
          <p:cNvPr id="16" name="Shape 13"/>
          <p:cNvSpPr/>
          <p:nvPr/>
        </p:nvSpPr>
        <p:spPr>
          <a:xfrm>
            <a:off x="8138160" y="4511040"/>
            <a:ext cx="3566160" cy="929640"/>
          </a:xfrm>
          <a:prstGeom prst="rect">
            <a:avLst/>
          </a:prstGeom>
          <a:solidFill>
            <a:srgbClr val="DEEBF7"/>
          </a:solidFill>
          <a:ln w="6350">
            <a:solidFill>
              <a:srgbClr val="8FAADC"/>
            </a:solidFill>
            <a:prstDash val="solid"/>
          </a:ln>
        </p:spPr>
      </p:sp>
      <p:sp>
        <p:nvSpPr>
          <p:cNvPr id="17" name="Text 14"/>
          <p:cNvSpPr/>
          <p:nvPr/>
        </p:nvSpPr>
        <p:spPr>
          <a:xfrm>
            <a:off x="8275320" y="4584192"/>
            <a:ext cx="3291840" cy="365760"/>
          </a:xfrm>
          <a:prstGeom prst="rect">
            <a:avLst/>
          </a:prstGeom>
          <a:noFill/>
          <a:ln/>
        </p:spPr>
        <p:txBody>
          <a:bodyPr wrap="square" lIns="0" tIns="0" rIns="0" bIns="0" rtlCol="0" anchor="ctr"/>
          <a:lstStyle/>
          <a:p>
            <a:pPr marL="0" indent="0">
              <a:buNone/>
            </a:pPr>
            <a:r>
              <a:rPr lang="en-US" sz="1900" b="1" dirty="0">
                <a:solidFill>
                  <a:srgbClr val="1F3864"/>
                </a:solidFill>
                <a:latin typeface="Arial" pitchFamily="34" charset="0"/>
                <a:ea typeface="Arial" pitchFamily="34" charset="-122"/>
                <a:cs typeface="Arial" pitchFamily="34" charset="-120"/>
              </a:rPr>
              <a:t>2027</a:t>
            </a:r>
            <a:endParaRPr lang="en-US" sz="1900" dirty="0"/>
          </a:p>
        </p:txBody>
      </p:sp>
      <p:sp>
        <p:nvSpPr>
          <p:cNvPr id="18" name="Text 15"/>
          <p:cNvSpPr/>
          <p:nvPr/>
        </p:nvSpPr>
        <p:spPr>
          <a:xfrm>
            <a:off x="8275320" y="4949952"/>
            <a:ext cx="3291840" cy="228600"/>
          </a:xfrm>
          <a:prstGeom prst="rect">
            <a:avLst/>
          </a:prstGeom>
          <a:noFill/>
          <a:ln/>
        </p:spPr>
        <p:txBody>
          <a:bodyPr wrap="square" lIns="0" tIns="0" rIns="0" bIns="0" rtlCol="0" anchor="ctr"/>
          <a:lstStyle/>
          <a:p>
            <a:pPr marL="0" indent="0">
              <a:buNone/>
            </a:pPr>
            <a:r>
              <a:rPr lang="en-US" sz="1100" b="1" dirty="0">
                <a:solidFill>
                  <a:srgbClr val="2F5496"/>
                </a:solidFill>
                <a:latin typeface="Arial" pitchFamily="34" charset="0"/>
                <a:ea typeface="Arial" pitchFamily="34" charset="-122"/>
                <a:cs typeface="Arial" pitchFamily="34" charset="-120"/>
              </a:rPr>
              <a:t>ENAC concession</a:t>
            </a:r>
            <a:endParaRPr lang="en-US" sz="1100" dirty="0"/>
          </a:p>
        </p:txBody>
      </p:sp>
      <p:sp>
        <p:nvSpPr>
          <p:cNvPr id="19" name="Text 16"/>
          <p:cNvSpPr/>
          <p:nvPr/>
        </p:nvSpPr>
        <p:spPr>
          <a:xfrm>
            <a:off x="8275320" y="5178552"/>
            <a:ext cx="3291840" cy="198120"/>
          </a:xfrm>
          <a:prstGeom prst="rect">
            <a:avLst/>
          </a:prstGeom>
          <a:noFill/>
          <a:ln/>
        </p:spPr>
        <p:txBody>
          <a:bodyPr wrap="square" lIns="0" tIns="0" rIns="0" bIns="0" rtlCol="0" anchor="t"/>
          <a:lstStyle/>
          <a:p>
            <a:pPr marL="0" indent="0">
              <a:buNone/>
            </a:pPr>
            <a:r>
              <a:rPr lang="en-US" sz="900" i="1" dirty="0">
                <a:solidFill>
                  <a:srgbClr val="2A2A2A"/>
                </a:solidFill>
                <a:latin typeface="Arial" pitchFamily="34" charset="0"/>
                <a:ea typeface="Arial" pitchFamily="34" charset="-122"/>
                <a:cs typeface="Arial" pitchFamily="34" charset="-120"/>
              </a:rPr>
              <a:t>Extended through 2027, Erzelli tech park infrastructure plan named.</a:t>
            </a:r>
            <a:endParaRPr lang="en-US" sz="900" dirty="0"/>
          </a:p>
        </p:txBody>
      </p:sp>
      <p:sp>
        <p:nvSpPr>
          <p:cNvPr id="20" name="Shape 17"/>
          <p:cNvSpPr/>
          <p:nvPr/>
        </p:nvSpPr>
        <p:spPr>
          <a:xfrm>
            <a:off x="457200" y="5897880"/>
            <a:ext cx="11247120" cy="502920"/>
          </a:xfrm>
          <a:prstGeom prst="rect">
            <a:avLst/>
          </a:prstGeom>
          <a:solidFill>
            <a:srgbClr val="1F3864"/>
          </a:solidFill>
          <a:ln w="12700">
            <a:solidFill>
              <a:srgbClr val="1F3864"/>
            </a:solidFill>
            <a:prstDash val="solid"/>
          </a:ln>
        </p:spPr>
      </p:sp>
      <p:sp>
        <p:nvSpPr>
          <p:cNvPr id="21" name="Text 18"/>
          <p:cNvSpPr/>
          <p:nvPr/>
        </p:nvSpPr>
        <p:spPr>
          <a:xfrm>
            <a:off x="731520" y="5943600"/>
            <a:ext cx="10698480" cy="41148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A 30-week summer operation should be modelled against the April to September plateau, not the annual mean, or load factors and fares will read weaker than the operating reality.</a:t>
            </a:r>
            <a:endParaRPr lang="en-US" sz="1100" dirty="0"/>
          </a:p>
        </p:txBody>
      </p:sp>
      <p:sp>
        <p:nvSpPr>
          <p:cNvPr id="22" name="Text 19"/>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3" name="Text 20"/>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The operator landscape</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Carriers read by the capacity a thin market can fill, not by fleet badge</a:t>
            </a:r>
            <a:endParaRPr lang="en-US" sz="1300" dirty="0"/>
          </a:p>
        </p:txBody>
      </p:sp>
      <p:sp>
        <p:nvSpPr>
          <p:cNvPr id="4" name="Text 2"/>
          <p:cNvSpPr/>
          <p:nvPr/>
        </p:nvSpPr>
        <p:spPr>
          <a:xfrm>
            <a:off x="457200" y="1188720"/>
            <a:ext cx="11247120" cy="502920"/>
          </a:xfrm>
          <a:prstGeom prst="rect">
            <a:avLst/>
          </a:prstGeom>
          <a:noFill/>
          <a:ln/>
        </p:spPr>
        <p:txBody>
          <a:bodyPr wrap="square" lIns="0" tIns="0" rIns="0" bIns="0" rtlCol="0" anchor="t"/>
          <a:lstStyle/>
          <a:p>
            <a:pPr marL="0" indent="0">
              <a:buNone/>
            </a:pPr>
            <a:r>
              <a:rPr lang="en-US" sz="1200" dirty="0">
                <a:solidFill>
                  <a:srgbClr val="2A2A2A"/>
                </a:solidFill>
                <a:latin typeface="Arial" pitchFamily="34" charset="0"/>
                <a:ea typeface="Arial" pitchFamily="34" charset="-122"/>
                <a:cs typeface="Arial" pitchFamily="34" charset="-120"/>
              </a:rPr>
              <a:t>The realistic shortlist depends on what the demand analysis shows, but the universe of plausible carriers is finite. Below is an early read of carrier fit by capacity model, before the detailed catchment and addressable market work.</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384048">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Carrier</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NYC hub</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Aircraft / capacity fit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Italy network</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Secondary city appetite</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Strategic fit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Tier</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JetBlue</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JFK base</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A321, right-sized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BOS-MXP May 26</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Demonstrated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Strong</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48235"/>
                    </a:solidFill>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United</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EWR hub</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XLR delivering; 767 today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FCO, MXP direct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Mixed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Strong</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48235"/>
                    </a:solidFill>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American</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JFK</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A321XLR, right-sized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FCO, MXP direct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Limited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Moderate</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F8F00"/>
                    </a:solidFill>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ITA Airways</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JFK from FCO</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A330 + A321neo</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Home market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Hub-focused (FCO)</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Conditional</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F8F00"/>
                    </a:solidFill>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Air Canada (YUL)</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9C0006"/>
                          </a:solidFill>
                          <a:latin typeface="Arial" pitchFamily="34" charset="0"/>
                          <a:ea typeface="Arial" pitchFamily="34" charset="-122"/>
                          <a:cs typeface="Arial" pitchFamily="34" charset="-120"/>
                        </a:rPr>
                        <a:t>Not NYC direct</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7CE"/>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A321XLR via YUL</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FCO from YUL</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Secondary city XLR strategy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Tangential</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Aer Lingus</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Via DUB</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A321XLR, right-sized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None today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Demonstrated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0006"/>
                          </a:solidFill>
                          <a:latin typeface="Arial" pitchFamily="34" charset="0"/>
                          <a:ea typeface="Arial" pitchFamily="34" charset="-122"/>
                          <a:cs typeface="Arial" pitchFamily="34" charset="-120"/>
                        </a:rPr>
                        <a:t>Limited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7C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2A2A2A"/>
                          </a:solidFill>
                          <a:latin typeface="Arial" pitchFamily="34" charset="0"/>
                          <a:ea typeface="Arial" pitchFamily="34" charset="-122"/>
                          <a:cs typeface="Arial" pitchFamily="34" charset="-120"/>
                        </a:rPr>
                        <a:t>Norse Atlantic</a:t>
                      </a:r>
                      <a:endParaRPr lang="en-US" sz="11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000" b="1" dirty="0">
                          <a:solidFill>
                            <a:srgbClr val="375623"/>
                          </a:solidFill>
                          <a:latin typeface="Arial" pitchFamily="34" charset="0"/>
                          <a:ea typeface="Arial" pitchFamily="34" charset="-122"/>
                          <a:cs typeface="Arial" pitchFamily="34" charset="-120"/>
                        </a:rPr>
                        <a:t>JFK, EWR</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FCE"/>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787, oversized scheduled</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None today</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9C5700"/>
                          </a:solidFill>
                          <a:latin typeface="Arial" pitchFamily="34" charset="0"/>
                          <a:ea typeface="Arial" pitchFamily="34" charset="-122"/>
                          <a:cs typeface="Arial" pitchFamily="34" charset="-120"/>
                        </a:rPr>
                        <a:t>LCC model</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B9C"/>
                    </a:solidFill>
                  </a:tcPr>
                </a:tc>
                <a:tc>
                  <a:txBody>
                    <a:bodyPr/>
                    <a:lstStyle/>
                    <a:p>
                      <a:pPr marL="0" indent="0" algn="ctr">
                        <a:buNone/>
                      </a:pPr>
                      <a:r>
                        <a:rPr lang="en-US" sz="1000" b="1" dirty="0">
                          <a:solidFill>
                            <a:srgbClr val="9C0006"/>
                          </a:solidFill>
                          <a:latin typeface="Arial" pitchFamily="34" charset="0"/>
                          <a:ea typeface="Arial" pitchFamily="34" charset="-122"/>
                          <a:cs typeface="Arial" pitchFamily="34" charset="-120"/>
                        </a:rPr>
                        <a:t>Marginal</a:t>
                      </a:r>
                      <a:endParaRPr lang="en-US" sz="10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7C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extLst>
                  <a:ext uri="{0D108BD9-81ED-4DB2-BD59-A6C34878D82A}">
                    <a16:rowId xmlns:a16="http://schemas.microsoft.com/office/drawing/2014/main" val="10007"/>
                  </a:ext>
                </a:extLst>
              </a:tr>
            </a:tbl>
          </a:graphicData>
        </a:graphic>
      </p:graphicFrame>
      <p:sp>
        <p:nvSpPr>
          <p:cNvPr id="6" name="Text 3"/>
          <p:cNvSpPr/>
          <p:nvPr/>
        </p:nvSpPr>
        <p:spPr>
          <a:xfrm>
            <a:off x="457200" y="5212080"/>
            <a:ext cx="11247120" cy="274320"/>
          </a:xfrm>
          <a:prstGeom prst="rect">
            <a:avLst/>
          </a:prstGeom>
          <a:noFill/>
          <a:ln/>
        </p:spPr>
        <p:txBody>
          <a:bodyPr wrap="square" lIns="0" tIns="0" rIns="0" bIns="0" rtlCol="0" anchor="ctr"/>
          <a:lstStyle/>
          <a:p>
            <a:pPr marL="0" indent="0" algn="ctr">
              <a:buNone/>
            </a:pPr>
            <a:r>
              <a:rPr lang="en-US" sz="1000" i="1" dirty="0">
                <a:solidFill>
                  <a:srgbClr val="595959"/>
                </a:solidFill>
                <a:latin typeface="Arial" pitchFamily="34" charset="0"/>
                <a:ea typeface="Arial" pitchFamily="34" charset="-122"/>
                <a:cs typeface="Arial" pitchFamily="34" charset="-120"/>
              </a:rPr>
              <a:t>Tier 1: Most credible candidates  |  Tier 2: Conditional candidates  |  Tier 3: Less likely  |  Tier 4: Unlikely</a:t>
            </a:r>
            <a:endParaRPr lang="en-US" sz="1000" dirty="0"/>
          </a:p>
        </p:txBody>
      </p:sp>
      <p:sp>
        <p:nvSpPr>
          <p:cNvPr id="7" name="Text 4"/>
          <p:cNvSpPr/>
          <p:nvPr/>
        </p:nvSpPr>
        <p:spPr>
          <a:xfrm>
            <a:off x="457200" y="5577840"/>
            <a:ext cx="11247120" cy="548640"/>
          </a:xfrm>
          <a:prstGeom prst="rect">
            <a:avLst/>
          </a:prstGeom>
          <a:noFill/>
          <a:ln/>
        </p:spPr>
        <p:txBody>
          <a:bodyPr wrap="square" lIns="0" tIns="0" rIns="0" bIns="0" rtlCol="0" anchor="ctr"/>
          <a:lstStyle/>
          <a:p>
            <a:pPr marL="0" indent="0" algn="ctr">
              <a:buNone/>
            </a:pPr>
            <a:r>
              <a:rPr lang="en-US" sz="1000" i="1" dirty="0">
                <a:solidFill>
                  <a:srgbClr val="C00000"/>
                </a:solidFill>
                <a:latin typeface="Arial" pitchFamily="34" charset="0"/>
                <a:ea typeface="Arial" pitchFamily="34" charset="-122"/>
                <a:cs typeface="Arial" pitchFamily="34" charset="-120"/>
              </a:rPr>
              <a:t>This ranking is preliminary, based on public fleet data, network strategy disclosures and Avia's read of carrier intent. It would be tested and refined against the addressable market profile in Stage 1, and against direct soundings in Stage 3.</a:t>
            </a:r>
            <a:endParaRPr lang="en-US" sz="1000" dirty="0"/>
          </a:p>
        </p:txBody>
      </p:sp>
      <p:sp>
        <p:nvSpPr>
          <p:cNvPr id="8" name="Text 5"/>
          <p:cNvSpPr/>
          <p:nvPr/>
        </p:nvSpPr>
        <p:spPr>
          <a:xfrm>
            <a:off x="457200" y="6172200"/>
            <a:ext cx="11247120" cy="22860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Source: Public fleet and network data, carrier disclosures, Avia Solutions analysis. June 2026.</a:t>
            </a:r>
            <a:endParaRPr lang="en-US" sz="900" dirty="0"/>
          </a:p>
        </p:txBody>
      </p:sp>
      <p:sp>
        <p:nvSpPr>
          <p:cNvPr id="9" name="Text 6"/>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5" name="Text 7"/>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Aircraft and service model options</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Multiple paths to the same destination. Demand needed = annual O&amp;D both ways at an 80% load factor.</a:t>
            </a:r>
            <a:endParaRPr lang="en-US" sz="1300" dirty="0"/>
          </a:p>
        </p:txBody>
      </p:sp>
      <p:sp>
        <p:nvSpPr>
          <p:cNvPr id="4" name="Shape 2"/>
          <p:cNvSpPr/>
          <p:nvPr/>
        </p:nvSpPr>
        <p:spPr>
          <a:xfrm>
            <a:off x="466344" y="1371600"/>
            <a:ext cx="2157984" cy="3840480"/>
          </a:xfrm>
          <a:prstGeom prst="rect">
            <a:avLst/>
          </a:prstGeom>
          <a:solidFill>
            <a:srgbClr val="F7F9FC"/>
          </a:solidFill>
          <a:ln w="6350">
            <a:solidFill>
              <a:srgbClr val="BFBFBF"/>
            </a:solidFill>
            <a:prstDash val="solid"/>
          </a:ln>
        </p:spPr>
      </p:sp>
      <p:sp>
        <p:nvSpPr>
          <p:cNvPr id="5" name="Shape 3"/>
          <p:cNvSpPr/>
          <p:nvPr/>
        </p:nvSpPr>
        <p:spPr>
          <a:xfrm>
            <a:off x="466344" y="1371600"/>
            <a:ext cx="2157984" cy="731520"/>
          </a:xfrm>
          <a:prstGeom prst="rect">
            <a:avLst/>
          </a:prstGeom>
          <a:solidFill>
            <a:srgbClr val="1F3864"/>
          </a:solidFill>
          <a:ln w="12700">
            <a:solidFill>
              <a:srgbClr val="1F3864"/>
            </a:solidFill>
            <a:prstDash val="solid"/>
          </a:ln>
        </p:spPr>
      </p:sp>
      <p:sp>
        <p:nvSpPr>
          <p:cNvPr id="6" name="Text 4"/>
          <p:cNvSpPr/>
          <p:nvPr/>
        </p:nvSpPr>
        <p:spPr>
          <a:xfrm>
            <a:off x="603504" y="1463040"/>
            <a:ext cx="1883664" cy="5486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Direct narrowbody, daily</a:t>
            </a:r>
            <a:endParaRPr lang="en-US" sz="1200" dirty="0"/>
          </a:p>
        </p:txBody>
      </p:sp>
      <p:sp>
        <p:nvSpPr>
          <p:cNvPr id="7" name="Text 5"/>
          <p:cNvSpPr/>
          <p:nvPr/>
        </p:nvSpPr>
        <p:spPr>
          <a:xfrm>
            <a:off x="603504" y="224028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AIRCRAFT</a:t>
            </a:r>
            <a:endParaRPr lang="en-US" sz="800" dirty="0"/>
          </a:p>
        </p:txBody>
      </p:sp>
      <p:sp>
        <p:nvSpPr>
          <p:cNvPr id="8" name="Text 6"/>
          <p:cNvSpPr/>
          <p:nvPr/>
        </p:nvSpPr>
        <p:spPr>
          <a:xfrm>
            <a:off x="603504" y="2423160"/>
            <a:ext cx="1883664" cy="32004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A321XLR</a:t>
            </a:r>
            <a:endParaRPr lang="en-US" sz="1100" dirty="0"/>
          </a:p>
        </p:txBody>
      </p:sp>
      <p:sp>
        <p:nvSpPr>
          <p:cNvPr id="9" name="Text 7"/>
          <p:cNvSpPr/>
          <p:nvPr/>
        </p:nvSpPr>
        <p:spPr>
          <a:xfrm>
            <a:off x="603504" y="27889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DEMAND NEEDED</a:t>
            </a:r>
            <a:endParaRPr lang="en-US" sz="800" dirty="0"/>
          </a:p>
        </p:txBody>
      </p:sp>
      <p:sp>
        <p:nvSpPr>
          <p:cNvPr id="10" name="Text 8"/>
          <p:cNvSpPr/>
          <p:nvPr/>
        </p:nvSpPr>
        <p:spPr>
          <a:xfrm>
            <a:off x="603504" y="2971800"/>
            <a:ext cx="1883664" cy="4114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c.106k (133k seats/yr)</a:t>
            </a:r>
            <a:endParaRPr lang="en-US" sz="1100" dirty="0"/>
          </a:p>
        </p:txBody>
      </p:sp>
      <p:sp>
        <p:nvSpPr>
          <p:cNvPr id="11" name="Text 9"/>
          <p:cNvSpPr/>
          <p:nvPr/>
        </p:nvSpPr>
        <p:spPr>
          <a:xfrm>
            <a:off x="603504" y="34747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OPERATING SHAPE</a:t>
            </a:r>
            <a:endParaRPr lang="en-US" sz="800" dirty="0"/>
          </a:p>
        </p:txBody>
      </p:sp>
      <p:sp>
        <p:nvSpPr>
          <p:cNvPr id="12" name="Text 10"/>
          <p:cNvSpPr/>
          <p:nvPr/>
        </p:nvSpPr>
        <p:spPr>
          <a:xfrm>
            <a:off x="603504" y="3657600"/>
            <a:ext cx="1883664" cy="50292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Daily year-round, US carrier</a:t>
            </a:r>
            <a:endParaRPr lang="en-US" sz="1100" dirty="0"/>
          </a:p>
        </p:txBody>
      </p:sp>
      <p:sp>
        <p:nvSpPr>
          <p:cNvPr id="13" name="Text 11"/>
          <p:cNvSpPr/>
          <p:nvPr/>
        </p:nvSpPr>
        <p:spPr>
          <a:xfrm>
            <a:off x="603504" y="425196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FITS WHEN</a:t>
            </a:r>
            <a:endParaRPr lang="en-US" sz="800" dirty="0"/>
          </a:p>
        </p:txBody>
      </p:sp>
      <p:sp>
        <p:nvSpPr>
          <p:cNvPr id="14" name="Text 12"/>
          <p:cNvSpPr/>
          <p:nvPr/>
        </p:nvSpPr>
        <p:spPr>
          <a:xfrm>
            <a:off x="603504" y="4434840"/>
            <a:ext cx="1883664" cy="6400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Optimistic catchment</a:t>
            </a:r>
            <a:endParaRPr lang="en-US" sz="1100" dirty="0"/>
          </a:p>
        </p:txBody>
      </p:sp>
      <p:sp>
        <p:nvSpPr>
          <p:cNvPr id="15" name="Shape 13"/>
          <p:cNvSpPr/>
          <p:nvPr/>
        </p:nvSpPr>
        <p:spPr>
          <a:xfrm>
            <a:off x="2734056" y="1371600"/>
            <a:ext cx="2157984" cy="3840480"/>
          </a:xfrm>
          <a:prstGeom prst="rect">
            <a:avLst/>
          </a:prstGeom>
          <a:solidFill>
            <a:srgbClr val="F7F9FC"/>
          </a:solidFill>
          <a:ln w="6350">
            <a:solidFill>
              <a:srgbClr val="BFBFBF"/>
            </a:solidFill>
            <a:prstDash val="solid"/>
          </a:ln>
        </p:spPr>
      </p:sp>
      <p:sp>
        <p:nvSpPr>
          <p:cNvPr id="16" name="Shape 14"/>
          <p:cNvSpPr/>
          <p:nvPr/>
        </p:nvSpPr>
        <p:spPr>
          <a:xfrm>
            <a:off x="2734056" y="1371600"/>
            <a:ext cx="2157984" cy="731520"/>
          </a:xfrm>
          <a:prstGeom prst="rect">
            <a:avLst/>
          </a:prstGeom>
          <a:solidFill>
            <a:srgbClr val="2F5496"/>
          </a:solidFill>
          <a:ln w="12700">
            <a:solidFill>
              <a:srgbClr val="2F5496"/>
            </a:solidFill>
            <a:prstDash val="solid"/>
          </a:ln>
        </p:spPr>
      </p:sp>
      <p:sp>
        <p:nvSpPr>
          <p:cNvPr id="17" name="Text 15"/>
          <p:cNvSpPr/>
          <p:nvPr/>
        </p:nvSpPr>
        <p:spPr>
          <a:xfrm>
            <a:off x="2871216" y="1463040"/>
            <a:ext cx="1883664" cy="5486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Direct narrowbody, sub-daily</a:t>
            </a:r>
            <a:endParaRPr lang="en-US" sz="1200" dirty="0"/>
          </a:p>
        </p:txBody>
      </p:sp>
      <p:sp>
        <p:nvSpPr>
          <p:cNvPr id="18" name="Text 16"/>
          <p:cNvSpPr/>
          <p:nvPr/>
        </p:nvSpPr>
        <p:spPr>
          <a:xfrm>
            <a:off x="2871216" y="224028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AIRCRAFT</a:t>
            </a:r>
            <a:endParaRPr lang="en-US" sz="800" dirty="0"/>
          </a:p>
        </p:txBody>
      </p:sp>
      <p:sp>
        <p:nvSpPr>
          <p:cNvPr id="19" name="Text 17"/>
          <p:cNvSpPr/>
          <p:nvPr/>
        </p:nvSpPr>
        <p:spPr>
          <a:xfrm>
            <a:off x="2871216" y="2423160"/>
            <a:ext cx="1883664" cy="32004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A321XLR / LR</a:t>
            </a:r>
            <a:endParaRPr lang="en-US" sz="1100" dirty="0"/>
          </a:p>
        </p:txBody>
      </p:sp>
      <p:sp>
        <p:nvSpPr>
          <p:cNvPr id="20" name="Text 18"/>
          <p:cNvSpPr/>
          <p:nvPr/>
        </p:nvSpPr>
        <p:spPr>
          <a:xfrm>
            <a:off x="2871216" y="27889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DEMAND NEEDED</a:t>
            </a:r>
            <a:endParaRPr lang="en-US" sz="800" dirty="0"/>
          </a:p>
        </p:txBody>
      </p:sp>
      <p:sp>
        <p:nvSpPr>
          <p:cNvPr id="21" name="Text 19"/>
          <p:cNvSpPr/>
          <p:nvPr/>
        </p:nvSpPr>
        <p:spPr>
          <a:xfrm>
            <a:off x="2871216" y="2971800"/>
            <a:ext cx="1883664" cy="4114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c.30-60k (38-66k seats)</a:t>
            </a:r>
            <a:endParaRPr lang="en-US" sz="1100" dirty="0"/>
          </a:p>
        </p:txBody>
      </p:sp>
      <p:sp>
        <p:nvSpPr>
          <p:cNvPr id="22" name="Text 20"/>
          <p:cNvSpPr/>
          <p:nvPr/>
        </p:nvSpPr>
        <p:spPr>
          <a:xfrm>
            <a:off x="2871216" y="34747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OPERATING SHAPE</a:t>
            </a:r>
            <a:endParaRPr lang="en-US" sz="800" dirty="0"/>
          </a:p>
        </p:txBody>
      </p:sp>
      <p:sp>
        <p:nvSpPr>
          <p:cNvPr id="23" name="Text 21"/>
          <p:cNvSpPr/>
          <p:nvPr/>
        </p:nvSpPr>
        <p:spPr>
          <a:xfrm>
            <a:off x="2871216" y="3657600"/>
            <a:ext cx="1883664" cy="50292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3-5x weekly, seasonal weighted</a:t>
            </a:r>
            <a:endParaRPr lang="en-US" sz="1100" dirty="0"/>
          </a:p>
        </p:txBody>
      </p:sp>
      <p:sp>
        <p:nvSpPr>
          <p:cNvPr id="24" name="Text 22"/>
          <p:cNvSpPr/>
          <p:nvPr/>
        </p:nvSpPr>
        <p:spPr>
          <a:xfrm>
            <a:off x="2871216" y="425196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FITS WHEN</a:t>
            </a:r>
            <a:endParaRPr lang="en-US" sz="800" dirty="0"/>
          </a:p>
        </p:txBody>
      </p:sp>
      <p:sp>
        <p:nvSpPr>
          <p:cNvPr id="25" name="Text 23"/>
          <p:cNvSpPr/>
          <p:nvPr/>
        </p:nvSpPr>
        <p:spPr>
          <a:xfrm>
            <a:off x="2871216" y="4434840"/>
            <a:ext cx="1883664" cy="6400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Conservative to mid catchment</a:t>
            </a:r>
            <a:endParaRPr lang="en-US" sz="1100" dirty="0"/>
          </a:p>
        </p:txBody>
      </p:sp>
      <p:sp>
        <p:nvSpPr>
          <p:cNvPr id="26" name="Shape 24"/>
          <p:cNvSpPr/>
          <p:nvPr/>
        </p:nvSpPr>
        <p:spPr>
          <a:xfrm>
            <a:off x="5001768" y="1371600"/>
            <a:ext cx="2157984" cy="3840480"/>
          </a:xfrm>
          <a:prstGeom prst="rect">
            <a:avLst/>
          </a:prstGeom>
          <a:solidFill>
            <a:srgbClr val="F7F9FC"/>
          </a:solidFill>
          <a:ln w="6350">
            <a:solidFill>
              <a:srgbClr val="BFBFBF"/>
            </a:solidFill>
            <a:prstDash val="solid"/>
          </a:ln>
        </p:spPr>
      </p:sp>
      <p:sp>
        <p:nvSpPr>
          <p:cNvPr id="27" name="Shape 25"/>
          <p:cNvSpPr/>
          <p:nvPr/>
        </p:nvSpPr>
        <p:spPr>
          <a:xfrm>
            <a:off x="5001768" y="1371600"/>
            <a:ext cx="2157984" cy="731520"/>
          </a:xfrm>
          <a:prstGeom prst="rect">
            <a:avLst/>
          </a:prstGeom>
          <a:solidFill>
            <a:srgbClr val="8FAADC"/>
          </a:solidFill>
          <a:ln w="12700">
            <a:solidFill>
              <a:srgbClr val="8FAADC"/>
            </a:solidFill>
            <a:prstDash val="solid"/>
          </a:ln>
        </p:spPr>
      </p:sp>
      <p:sp>
        <p:nvSpPr>
          <p:cNvPr id="28" name="Text 26"/>
          <p:cNvSpPr/>
          <p:nvPr/>
        </p:nvSpPr>
        <p:spPr>
          <a:xfrm>
            <a:off x="5138928" y="1463040"/>
            <a:ext cx="1883664" cy="5486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Direct widebody, seasonal</a:t>
            </a:r>
            <a:endParaRPr lang="en-US" sz="1200" dirty="0"/>
          </a:p>
        </p:txBody>
      </p:sp>
      <p:sp>
        <p:nvSpPr>
          <p:cNvPr id="29" name="Text 27"/>
          <p:cNvSpPr/>
          <p:nvPr/>
        </p:nvSpPr>
        <p:spPr>
          <a:xfrm>
            <a:off x="5138928" y="224028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AIRCRAFT</a:t>
            </a:r>
            <a:endParaRPr lang="en-US" sz="800" dirty="0"/>
          </a:p>
        </p:txBody>
      </p:sp>
      <p:sp>
        <p:nvSpPr>
          <p:cNvPr id="30" name="Text 28"/>
          <p:cNvSpPr/>
          <p:nvPr/>
        </p:nvSpPr>
        <p:spPr>
          <a:xfrm>
            <a:off x="5138928" y="2423160"/>
            <a:ext cx="1883664" cy="32004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787-9 / A330neo</a:t>
            </a:r>
            <a:endParaRPr lang="en-US" sz="1100" dirty="0"/>
          </a:p>
        </p:txBody>
      </p:sp>
      <p:sp>
        <p:nvSpPr>
          <p:cNvPr id="31" name="Text 29"/>
          <p:cNvSpPr/>
          <p:nvPr/>
        </p:nvSpPr>
        <p:spPr>
          <a:xfrm>
            <a:off x="5138928" y="27889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DEMAND NEEDED</a:t>
            </a:r>
            <a:endParaRPr lang="en-US" sz="800" dirty="0"/>
          </a:p>
        </p:txBody>
      </p:sp>
      <p:sp>
        <p:nvSpPr>
          <p:cNvPr id="32" name="Text 30"/>
          <p:cNvSpPr/>
          <p:nvPr/>
        </p:nvSpPr>
        <p:spPr>
          <a:xfrm>
            <a:off x="5138928" y="2971800"/>
            <a:ext cx="1883664" cy="4114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c.84k (106k seats)</a:t>
            </a:r>
            <a:endParaRPr lang="en-US" sz="1100" dirty="0"/>
          </a:p>
        </p:txBody>
      </p:sp>
      <p:sp>
        <p:nvSpPr>
          <p:cNvPr id="33" name="Text 31"/>
          <p:cNvSpPr/>
          <p:nvPr/>
        </p:nvSpPr>
        <p:spPr>
          <a:xfrm>
            <a:off x="5138928" y="34747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OPERATING SHAPE</a:t>
            </a:r>
            <a:endParaRPr lang="en-US" sz="800" dirty="0"/>
          </a:p>
        </p:txBody>
      </p:sp>
      <p:sp>
        <p:nvSpPr>
          <p:cNvPr id="34" name="Text 32"/>
          <p:cNvSpPr/>
          <p:nvPr/>
        </p:nvSpPr>
        <p:spPr>
          <a:xfrm>
            <a:off x="5138928" y="3657600"/>
            <a:ext cx="1883664" cy="50292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Summer-only daily, leisure-led</a:t>
            </a:r>
            <a:endParaRPr lang="en-US" sz="1100" dirty="0"/>
          </a:p>
        </p:txBody>
      </p:sp>
      <p:sp>
        <p:nvSpPr>
          <p:cNvPr id="35" name="Text 33"/>
          <p:cNvSpPr/>
          <p:nvPr/>
        </p:nvSpPr>
        <p:spPr>
          <a:xfrm>
            <a:off x="5138928" y="425196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FITS WHEN</a:t>
            </a:r>
            <a:endParaRPr lang="en-US" sz="800" dirty="0"/>
          </a:p>
        </p:txBody>
      </p:sp>
      <p:sp>
        <p:nvSpPr>
          <p:cNvPr id="36" name="Text 34"/>
          <p:cNvSpPr/>
          <p:nvPr/>
        </p:nvSpPr>
        <p:spPr>
          <a:xfrm>
            <a:off x="5138928" y="4434840"/>
            <a:ext cx="1883664" cy="6400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Optimistic only; better as a charter</a:t>
            </a:r>
            <a:endParaRPr lang="en-US" sz="1100" dirty="0"/>
          </a:p>
        </p:txBody>
      </p:sp>
      <p:sp>
        <p:nvSpPr>
          <p:cNvPr id="37" name="Shape 35"/>
          <p:cNvSpPr/>
          <p:nvPr/>
        </p:nvSpPr>
        <p:spPr>
          <a:xfrm>
            <a:off x="7269480" y="1371600"/>
            <a:ext cx="2157984" cy="3840480"/>
          </a:xfrm>
          <a:prstGeom prst="rect">
            <a:avLst/>
          </a:prstGeom>
          <a:solidFill>
            <a:srgbClr val="F7F9FC"/>
          </a:solidFill>
          <a:ln w="6350">
            <a:solidFill>
              <a:srgbClr val="BFBFBF"/>
            </a:solidFill>
            <a:prstDash val="solid"/>
          </a:ln>
        </p:spPr>
      </p:sp>
      <p:sp>
        <p:nvSpPr>
          <p:cNvPr id="38" name="Shape 36"/>
          <p:cNvSpPr/>
          <p:nvPr/>
        </p:nvSpPr>
        <p:spPr>
          <a:xfrm>
            <a:off x="7269480" y="1371600"/>
            <a:ext cx="2157984" cy="731520"/>
          </a:xfrm>
          <a:prstGeom prst="rect">
            <a:avLst/>
          </a:prstGeom>
          <a:solidFill>
            <a:srgbClr val="BF8F00"/>
          </a:solidFill>
          <a:ln w="12700">
            <a:solidFill>
              <a:srgbClr val="BF8F00"/>
            </a:solidFill>
            <a:prstDash val="solid"/>
          </a:ln>
        </p:spPr>
      </p:sp>
      <p:sp>
        <p:nvSpPr>
          <p:cNvPr id="39" name="Text 37"/>
          <p:cNvSpPr/>
          <p:nvPr/>
        </p:nvSpPr>
        <p:spPr>
          <a:xfrm>
            <a:off x="7406640" y="1463040"/>
            <a:ext cx="1883664" cy="5486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Hub feeder agreement</a:t>
            </a:r>
            <a:endParaRPr lang="en-US" sz="1200" dirty="0"/>
          </a:p>
        </p:txBody>
      </p:sp>
      <p:sp>
        <p:nvSpPr>
          <p:cNvPr id="40" name="Text 38"/>
          <p:cNvSpPr/>
          <p:nvPr/>
        </p:nvSpPr>
        <p:spPr>
          <a:xfrm>
            <a:off x="7406640" y="224028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AIRCRAFT</a:t>
            </a:r>
            <a:endParaRPr lang="en-US" sz="800" dirty="0"/>
          </a:p>
        </p:txBody>
      </p:sp>
      <p:sp>
        <p:nvSpPr>
          <p:cNvPr id="41" name="Text 39"/>
          <p:cNvSpPr/>
          <p:nvPr/>
        </p:nvSpPr>
        <p:spPr>
          <a:xfrm>
            <a:off x="7406640" y="2423160"/>
            <a:ext cx="1883664" cy="32004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Existing narrowbody</a:t>
            </a:r>
            <a:endParaRPr lang="en-US" sz="1100" dirty="0"/>
          </a:p>
        </p:txBody>
      </p:sp>
      <p:sp>
        <p:nvSpPr>
          <p:cNvPr id="42" name="Text 40"/>
          <p:cNvSpPr/>
          <p:nvPr/>
        </p:nvSpPr>
        <p:spPr>
          <a:xfrm>
            <a:off x="7406640" y="27889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DEMAND NEEDED</a:t>
            </a:r>
            <a:endParaRPr lang="en-US" sz="800" dirty="0"/>
          </a:p>
        </p:txBody>
      </p:sp>
      <p:sp>
        <p:nvSpPr>
          <p:cNvPr id="43" name="Text 41"/>
          <p:cNvSpPr/>
          <p:nvPr/>
        </p:nvSpPr>
        <p:spPr>
          <a:xfrm>
            <a:off x="7406640" y="2971800"/>
            <a:ext cx="1883664" cy="4114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Connects to existing demand</a:t>
            </a:r>
            <a:endParaRPr lang="en-US" sz="1100" dirty="0"/>
          </a:p>
        </p:txBody>
      </p:sp>
      <p:sp>
        <p:nvSpPr>
          <p:cNvPr id="44" name="Text 42"/>
          <p:cNvSpPr/>
          <p:nvPr/>
        </p:nvSpPr>
        <p:spPr>
          <a:xfrm>
            <a:off x="7406640" y="34747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OPERATING SHAPE</a:t>
            </a:r>
            <a:endParaRPr lang="en-US" sz="800" dirty="0"/>
          </a:p>
        </p:txBody>
      </p:sp>
      <p:sp>
        <p:nvSpPr>
          <p:cNvPr id="45" name="Text 43"/>
          <p:cNvSpPr/>
          <p:nvPr/>
        </p:nvSpPr>
        <p:spPr>
          <a:xfrm>
            <a:off x="7406640" y="3657600"/>
            <a:ext cx="1883664" cy="50292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GOA-FCO / GOA-MXP feed</a:t>
            </a:r>
            <a:endParaRPr lang="en-US" sz="1100" dirty="0"/>
          </a:p>
        </p:txBody>
      </p:sp>
      <p:sp>
        <p:nvSpPr>
          <p:cNvPr id="46" name="Text 44"/>
          <p:cNvSpPr/>
          <p:nvPr/>
        </p:nvSpPr>
        <p:spPr>
          <a:xfrm>
            <a:off x="7406640" y="425196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FITS WHEN</a:t>
            </a:r>
            <a:endParaRPr lang="en-US" sz="800" dirty="0"/>
          </a:p>
        </p:txBody>
      </p:sp>
      <p:sp>
        <p:nvSpPr>
          <p:cNvPr id="47" name="Text 45"/>
          <p:cNvSpPr/>
          <p:nvPr/>
        </p:nvSpPr>
        <p:spPr>
          <a:xfrm>
            <a:off x="7406640" y="4434840"/>
            <a:ext cx="1883664" cy="6400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Politically sensitive, fast</a:t>
            </a:r>
            <a:endParaRPr lang="en-US" sz="1100" dirty="0"/>
          </a:p>
        </p:txBody>
      </p:sp>
      <p:sp>
        <p:nvSpPr>
          <p:cNvPr id="48" name="Shape 46"/>
          <p:cNvSpPr/>
          <p:nvPr/>
        </p:nvSpPr>
        <p:spPr>
          <a:xfrm>
            <a:off x="9537192" y="1371600"/>
            <a:ext cx="2157984" cy="3840480"/>
          </a:xfrm>
          <a:prstGeom prst="rect">
            <a:avLst/>
          </a:prstGeom>
          <a:solidFill>
            <a:srgbClr val="F7F9FC"/>
          </a:solidFill>
          <a:ln w="6350">
            <a:solidFill>
              <a:srgbClr val="BFBFBF"/>
            </a:solidFill>
            <a:prstDash val="solid"/>
          </a:ln>
        </p:spPr>
      </p:sp>
      <p:sp>
        <p:nvSpPr>
          <p:cNvPr id="49" name="Shape 47"/>
          <p:cNvSpPr/>
          <p:nvPr/>
        </p:nvSpPr>
        <p:spPr>
          <a:xfrm>
            <a:off x="9537192" y="1371600"/>
            <a:ext cx="2157984" cy="731520"/>
          </a:xfrm>
          <a:prstGeom prst="rect">
            <a:avLst/>
          </a:prstGeom>
          <a:solidFill>
            <a:srgbClr val="548235"/>
          </a:solidFill>
          <a:ln w="12700">
            <a:solidFill>
              <a:srgbClr val="548235"/>
            </a:solidFill>
            <a:prstDash val="solid"/>
          </a:ln>
        </p:spPr>
      </p:sp>
      <p:sp>
        <p:nvSpPr>
          <p:cNvPr id="50" name="Text 48"/>
          <p:cNvSpPr/>
          <p:nvPr/>
        </p:nvSpPr>
        <p:spPr>
          <a:xfrm>
            <a:off x="9674352" y="1463040"/>
            <a:ext cx="1883664" cy="54864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Combination cargo and pax</a:t>
            </a:r>
            <a:endParaRPr lang="en-US" sz="1200" dirty="0"/>
          </a:p>
        </p:txBody>
      </p:sp>
      <p:sp>
        <p:nvSpPr>
          <p:cNvPr id="51" name="Text 49"/>
          <p:cNvSpPr/>
          <p:nvPr/>
        </p:nvSpPr>
        <p:spPr>
          <a:xfrm>
            <a:off x="9674352" y="224028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AIRCRAFT</a:t>
            </a:r>
            <a:endParaRPr lang="en-US" sz="800" dirty="0"/>
          </a:p>
        </p:txBody>
      </p:sp>
      <p:sp>
        <p:nvSpPr>
          <p:cNvPr id="52" name="Text 50"/>
          <p:cNvSpPr/>
          <p:nvPr/>
        </p:nvSpPr>
        <p:spPr>
          <a:xfrm>
            <a:off x="9674352" y="2423160"/>
            <a:ext cx="1883664" cy="32004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Widebody belly</a:t>
            </a:r>
            <a:endParaRPr lang="en-US" sz="1100" dirty="0"/>
          </a:p>
        </p:txBody>
      </p:sp>
      <p:sp>
        <p:nvSpPr>
          <p:cNvPr id="53" name="Text 51"/>
          <p:cNvSpPr/>
          <p:nvPr/>
        </p:nvSpPr>
        <p:spPr>
          <a:xfrm>
            <a:off x="9674352" y="27889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DEMAND NEEDED</a:t>
            </a:r>
            <a:endParaRPr lang="en-US" sz="800" dirty="0"/>
          </a:p>
        </p:txBody>
      </p:sp>
      <p:sp>
        <p:nvSpPr>
          <p:cNvPr id="54" name="Text 52"/>
          <p:cNvSpPr/>
          <p:nvPr/>
        </p:nvSpPr>
        <p:spPr>
          <a:xfrm>
            <a:off x="9674352" y="2971800"/>
            <a:ext cx="1883664" cy="4114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Cargo subsidises pax economics</a:t>
            </a:r>
            <a:endParaRPr lang="en-US" sz="1100" dirty="0"/>
          </a:p>
        </p:txBody>
      </p:sp>
      <p:sp>
        <p:nvSpPr>
          <p:cNvPr id="55" name="Text 53"/>
          <p:cNvSpPr/>
          <p:nvPr/>
        </p:nvSpPr>
        <p:spPr>
          <a:xfrm>
            <a:off x="9674352" y="347472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OPERATING SHAPE</a:t>
            </a:r>
            <a:endParaRPr lang="en-US" sz="800" dirty="0"/>
          </a:p>
        </p:txBody>
      </p:sp>
      <p:sp>
        <p:nvSpPr>
          <p:cNvPr id="56" name="Text 54"/>
          <p:cNvSpPr/>
          <p:nvPr/>
        </p:nvSpPr>
        <p:spPr>
          <a:xfrm>
            <a:off x="9674352" y="3657600"/>
            <a:ext cx="1883664" cy="50292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Genoa port and pharma cargo</a:t>
            </a:r>
            <a:endParaRPr lang="en-US" sz="1100" dirty="0"/>
          </a:p>
        </p:txBody>
      </p:sp>
      <p:sp>
        <p:nvSpPr>
          <p:cNvPr id="57" name="Text 55"/>
          <p:cNvSpPr/>
          <p:nvPr/>
        </p:nvSpPr>
        <p:spPr>
          <a:xfrm>
            <a:off x="9674352" y="4251960"/>
            <a:ext cx="1883664"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FITS WHEN</a:t>
            </a:r>
            <a:endParaRPr lang="en-US" sz="800" dirty="0"/>
          </a:p>
        </p:txBody>
      </p:sp>
      <p:sp>
        <p:nvSpPr>
          <p:cNvPr id="58" name="Text 56"/>
          <p:cNvSpPr/>
          <p:nvPr/>
        </p:nvSpPr>
        <p:spPr>
          <a:xfrm>
            <a:off x="9674352" y="4434840"/>
            <a:ext cx="1883664" cy="640080"/>
          </a:xfrm>
          <a:prstGeom prst="rect">
            <a:avLst/>
          </a:prstGeom>
          <a:noFill/>
          <a:ln/>
        </p:spPr>
        <p:txBody>
          <a:bodyPr wrap="square" lIns="0" tIns="0" rIns="0" bIns="0" rtlCol="0" anchor="ctr"/>
          <a:lstStyle/>
          <a:p>
            <a:pPr marL="0" indent="0">
              <a:buNone/>
            </a:pPr>
            <a:r>
              <a:rPr lang="en-US" sz="1100" dirty="0">
                <a:solidFill>
                  <a:srgbClr val="2A2A2A"/>
                </a:solidFill>
                <a:latin typeface="Arial" pitchFamily="34" charset="0"/>
                <a:ea typeface="Arial" pitchFamily="34" charset="-122"/>
                <a:cs typeface="Arial" pitchFamily="34" charset="-120"/>
              </a:rPr>
              <a:t>If cargo case stacks up</a:t>
            </a:r>
            <a:endParaRPr lang="en-US" sz="1100" dirty="0"/>
          </a:p>
        </p:txBody>
      </p:sp>
      <p:sp>
        <p:nvSpPr>
          <p:cNvPr id="59" name="Text 57"/>
          <p:cNvSpPr/>
          <p:nvPr/>
        </p:nvSpPr>
        <p:spPr>
          <a:xfrm>
            <a:off x="457200" y="5440680"/>
            <a:ext cx="11247120" cy="457200"/>
          </a:xfrm>
          <a:prstGeom prst="rect">
            <a:avLst/>
          </a:prstGeom>
          <a:noFill/>
          <a:ln/>
        </p:spPr>
        <p:txBody>
          <a:bodyPr wrap="square" lIns="0" tIns="0" rIns="0" bIns="0" rtlCol="0" anchor="ctr"/>
          <a:lstStyle/>
          <a:p>
            <a:pPr marL="0" indent="0" algn="ctr">
              <a:buNone/>
            </a:pPr>
            <a:r>
              <a:rPr lang="en-US" sz="1200" i="1" dirty="0">
                <a:solidFill>
                  <a:srgbClr val="1F3864"/>
                </a:solidFill>
                <a:latin typeface="Arial" pitchFamily="34" charset="0"/>
                <a:ea typeface="Arial" pitchFamily="34" charset="-122"/>
                <a:cs typeface="Arial" pitchFamily="34" charset="-120"/>
              </a:rPr>
              <a:t>The arithmetic decides the aircraft. A scheduled widebody must fill c.212,000 seats a year, c.170,000 O&amp;D at an 80% load factor, against an optimistic catchment of c.115,000; it is oversupplied year-round and works only as a peak charter. An A321XLR at 4-5x weekly or summer-daily needs c.30,000 to 60,000, inside the conservative-to-mid catchment and matched to the summer peak. The question is right-sized capacity, not the aircraft type.</a:t>
            </a:r>
            <a:endParaRPr lang="en-US" sz="1200" dirty="0"/>
          </a:p>
        </p:txBody>
      </p:sp>
      <p:sp>
        <p:nvSpPr>
          <p:cNvPr id="60" name="Text 58"/>
          <p:cNvSpPr/>
          <p:nvPr/>
        </p:nvSpPr>
        <p:spPr>
          <a:xfrm>
            <a:off x="457200" y="5897880"/>
            <a:ext cx="11247120" cy="502920"/>
          </a:xfrm>
          <a:prstGeom prst="rect">
            <a:avLst/>
          </a:prstGeom>
          <a:noFill/>
          <a:ln/>
        </p:spPr>
        <p:txBody>
          <a:bodyPr wrap="square" lIns="0" tIns="0" rIns="0" bIns="0" rtlCol="0" anchor="ctr"/>
          <a:lstStyle/>
          <a:p>
            <a:pPr marL="0" indent="0" algn="ctr">
              <a:buNone/>
            </a:pPr>
            <a:r>
              <a:rPr lang="en-US" sz="1100" i="1" dirty="0">
                <a:solidFill>
                  <a:srgbClr val="595959"/>
                </a:solidFill>
                <a:latin typeface="Arial" pitchFamily="34" charset="0"/>
                <a:ea typeface="Arial" pitchFamily="34" charset="-122"/>
                <a:cs typeface="Arial" pitchFamily="34" charset="-120"/>
              </a:rPr>
              <a:t>The XLR is simply the scheduled aircraft this market can fill; the same logic holds for any narrowbody of the size. A runway, terrain and performance review with Airbus Consulting would confirm XLR feasibility from Genoa once the operating model is set.</a:t>
            </a:r>
            <a:endParaRPr lang="en-US" sz="1100" dirty="0"/>
          </a:p>
        </p:txBody>
      </p:sp>
      <p:sp>
        <p:nvSpPr>
          <p:cNvPr id="61" name="Text 59"/>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62" name="Text 60"/>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How Avia would approach the work</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Three stages, each independently valuable, decision point at each milestone</a:t>
            </a:r>
            <a:endParaRPr lang="en-US" sz="1300" dirty="0"/>
          </a:p>
        </p:txBody>
      </p:sp>
      <p:sp>
        <p:nvSpPr>
          <p:cNvPr id="4" name="Shape 2"/>
          <p:cNvSpPr/>
          <p:nvPr/>
        </p:nvSpPr>
        <p:spPr>
          <a:xfrm>
            <a:off x="525780" y="1280160"/>
            <a:ext cx="3611880" cy="4114800"/>
          </a:xfrm>
          <a:prstGeom prst="rect">
            <a:avLst/>
          </a:prstGeom>
          <a:solidFill>
            <a:srgbClr val="FFFFFF"/>
          </a:solidFill>
          <a:ln w="6350">
            <a:solidFill>
              <a:srgbClr val="BFBFBF"/>
            </a:solidFill>
            <a:prstDash val="solid"/>
          </a:ln>
        </p:spPr>
      </p:sp>
      <p:sp>
        <p:nvSpPr>
          <p:cNvPr id="5" name="Shape 3"/>
          <p:cNvSpPr/>
          <p:nvPr/>
        </p:nvSpPr>
        <p:spPr>
          <a:xfrm>
            <a:off x="525780" y="1280160"/>
            <a:ext cx="3611880" cy="822960"/>
          </a:xfrm>
          <a:prstGeom prst="rect">
            <a:avLst/>
          </a:prstGeom>
          <a:solidFill>
            <a:srgbClr val="1F3864"/>
          </a:solidFill>
          <a:ln w="12700">
            <a:solidFill>
              <a:srgbClr val="1F3864"/>
            </a:solidFill>
            <a:prstDash val="solid"/>
          </a:ln>
        </p:spPr>
      </p:sp>
      <p:sp>
        <p:nvSpPr>
          <p:cNvPr id="6" name="Text 4"/>
          <p:cNvSpPr/>
          <p:nvPr/>
        </p:nvSpPr>
        <p:spPr>
          <a:xfrm>
            <a:off x="754380" y="1371600"/>
            <a:ext cx="3154680" cy="274320"/>
          </a:xfrm>
          <a:prstGeom prst="rect">
            <a:avLst/>
          </a:prstGeom>
          <a:noFill/>
          <a:ln/>
        </p:spPr>
        <p:txBody>
          <a:bodyPr wrap="square" lIns="0" tIns="0" rIns="0" bIns="0" rtlCol="0" anchor="ctr"/>
          <a:lstStyle/>
          <a:p>
            <a:pPr marL="0" indent="0">
              <a:buNone/>
            </a:pPr>
            <a:r>
              <a:rPr lang="en-US" sz="1100" b="1" kern="0" spc="300" dirty="0">
                <a:solidFill>
                  <a:srgbClr val="FFFFFF"/>
                </a:solidFill>
                <a:latin typeface="Arial" pitchFamily="34" charset="0"/>
                <a:ea typeface="Arial" pitchFamily="34" charset="-122"/>
                <a:cs typeface="Arial" pitchFamily="34" charset="-120"/>
              </a:rPr>
              <a:t>Stage 1</a:t>
            </a:r>
            <a:endParaRPr lang="en-US" sz="1100" dirty="0"/>
          </a:p>
        </p:txBody>
      </p:sp>
      <p:sp>
        <p:nvSpPr>
          <p:cNvPr id="7" name="Text 5"/>
          <p:cNvSpPr/>
          <p:nvPr/>
        </p:nvSpPr>
        <p:spPr>
          <a:xfrm>
            <a:off x="754380" y="1645920"/>
            <a:ext cx="3154680" cy="411480"/>
          </a:xfrm>
          <a:prstGeom prst="rect">
            <a:avLst/>
          </a:prstGeom>
          <a:noFill/>
          <a:ln/>
        </p:spPr>
        <p:txBody>
          <a:bodyPr wrap="square" lIns="0" tIns="0" rIns="0" bIns="0" rtlCol="0" anchor="t"/>
          <a:lstStyle/>
          <a:p>
            <a:pPr marL="0" indent="0">
              <a:buNone/>
            </a:pPr>
            <a:r>
              <a:rPr lang="en-US" sz="1300" b="1" dirty="0">
                <a:solidFill>
                  <a:srgbClr val="FFFFFF"/>
                </a:solidFill>
                <a:latin typeface="Arial" pitchFamily="34" charset="0"/>
                <a:ea typeface="Arial" pitchFamily="34" charset="-122"/>
                <a:cs typeface="Arial" pitchFamily="34" charset="-120"/>
              </a:rPr>
              <a:t>Catchment evidence and addressable market</a:t>
            </a:r>
            <a:endParaRPr lang="en-US" sz="1300" dirty="0"/>
          </a:p>
        </p:txBody>
      </p:sp>
      <p:sp>
        <p:nvSpPr>
          <p:cNvPr id="8" name="Text 6"/>
          <p:cNvSpPr/>
          <p:nvPr/>
        </p:nvSpPr>
        <p:spPr>
          <a:xfrm>
            <a:off x="754380" y="2194560"/>
            <a:ext cx="3154680" cy="27432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4-6 weeks</a:t>
            </a:r>
            <a:endParaRPr lang="en-US" sz="1100" dirty="0"/>
          </a:p>
        </p:txBody>
      </p:sp>
      <p:sp>
        <p:nvSpPr>
          <p:cNvPr id="9" name="Text 7"/>
          <p:cNvSpPr/>
          <p:nvPr/>
        </p:nvSpPr>
        <p:spPr>
          <a:xfrm>
            <a:off x="754380" y="2560320"/>
            <a:ext cx="315468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Sabre point-of-origin analysis of MXP NYC traffic, by postcode and province</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Catchment evidence package design: Sabre, cell data, survey methodology</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Quantified leakage and recapture model</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Addressable market sizing under defined scenarios</a:t>
            </a:r>
            <a:endParaRPr lang="en-US" sz="1000" dirty="0"/>
          </a:p>
        </p:txBody>
      </p:sp>
      <p:sp>
        <p:nvSpPr>
          <p:cNvPr id="10" name="Shape 8"/>
          <p:cNvSpPr/>
          <p:nvPr/>
        </p:nvSpPr>
        <p:spPr>
          <a:xfrm>
            <a:off x="754380" y="4800600"/>
            <a:ext cx="3154680" cy="0"/>
          </a:xfrm>
          <a:prstGeom prst="line">
            <a:avLst/>
          </a:prstGeom>
          <a:noFill/>
          <a:ln w="6350">
            <a:solidFill>
              <a:srgbClr val="BFBFBF"/>
            </a:solidFill>
            <a:prstDash val="solid"/>
          </a:ln>
        </p:spPr>
      </p:sp>
      <p:sp>
        <p:nvSpPr>
          <p:cNvPr id="11" name="Text 9"/>
          <p:cNvSpPr/>
          <p:nvPr/>
        </p:nvSpPr>
        <p:spPr>
          <a:xfrm>
            <a:off x="754380" y="4864608"/>
            <a:ext cx="3154680"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OUTPUT</a:t>
            </a:r>
            <a:endParaRPr lang="en-US" sz="800" dirty="0"/>
          </a:p>
        </p:txBody>
      </p:sp>
      <p:sp>
        <p:nvSpPr>
          <p:cNvPr id="12" name="Text 10"/>
          <p:cNvSpPr/>
          <p:nvPr/>
        </p:nvSpPr>
        <p:spPr>
          <a:xfrm>
            <a:off x="754380" y="5029200"/>
            <a:ext cx="3154680" cy="365760"/>
          </a:xfrm>
          <a:prstGeom prst="rect">
            <a:avLst/>
          </a:prstGeom>
          <a:noFill/>
          <a:ln/>
        </p:spPr>
        <p:txBody>
          <a:bodyPr wrap="square" lIns="0" tIns="0" rIns="0" bIns="0" rtlCol="0" anchor="ctr"/>
          <a:lstStyle/>
          <a:p>
            <a:pPr marL="0" indent="0">
              <a:buNone/>
            </a:pPr>
            <a:r>
              <a:rPr lang="en-US" sz="1000" i="1" dirty="0">
                <a:solidFill>
                  <a:srgbClr val="2A2A2A"/>
                </a:solidFill>
                <a:latin typeface="Arial" pitchFamily="34" charset="0"/>
                <a:ea typeface="Arial" pitchFamily="34" charset="-122"/>
                <a:cs typeface="Arial" pitchFamily="34" charset="-120"/>
              </a:rPr>
              <a:t>Evidence package and addressable market view that Genoa would take into any airline conversation.</a:t>
            </a:r>
            <a:endParaRPr lang="en-US" sz="1000" dirty="0"/>
          </a:p>
        </p:txBody>
      </p:sp>
      <p:sp>
        <p:nvSpPr>
          <p:cNvPr id="13" name="Shape 11"/>
          <p:cNvSpPr/>
          <p:nvPr/>
        </p:nvSpPr>
        <p:spPr>
          <a:xfrm>
            <a:off x="4274820" y="1280160"/>
            <a:ext cx="3611880" cy="4114800"/>
          </a:xfrm>
          <a:prstGeom prst="rect">
            <a:avLst/>
          </a:prstGeom>
          <a:solidFill>
            <a:srgbClr val="FFFFFF"/>
          </a:solidFill>
          <a:ln w="6350">
            <a:solidFill>
              <a:srgbClr val="BFBFBF"/>
            </a:solidFill>
            <a:prstDash val="solid"/>
          </a:ln>
        </p:spPr>
      </p:sp>
      <p:sp>
        <p:nvSpPr>
          <p:cNvPr id="14" name="Shape 12"/>
          <p:cNvSpPr/>
          <p:nvPr/>
        </p:nvSpPr>
        <p:spPr>
          <a:xfrm>
            <a:off x="4274820" y="1280160"/>
            <a:ext cx="3611880" cy="822960"/>
          </a:xfrm>
          <a:prstGeom prst="rect">
            <a:avLst/>
          </a:prstGeom>
          <a:solidFill>
            <a:srgbClr val="2F5496"/>
          </a:solidFill>
          <a:ln w="12700">
            <a:solidFill>
              <a:srgbClr val="2F5496"/>
            </a:solidFill>
            <a:prstDash val="solid"/>
          </a:ln>
        </p:spPr>
      </p:sp>
      <p:sp>
        <p:nvSpPr>
          <p:cNvPr id="15" name="Text 13"/>
          <p:cNvSpPr/>
          <p:nvPr/>
        </p:nvSpPr>
        <p:spPr>
          <a:xfrm>
            <a:off x="4503420" y="1371600"/>
            <a:ext cx="3154680" cy="274320"/>
          </a:xfrm>
          <a:prstGeom prst="rect">
            <a:avLst/>
          </a:prstGeom>
          <a:noFill/>
          <a:ln/>
        </p:spPr>
        <p:txBody>
          <a:bodyPr wrap="square" lIns="0" tIns="0" rIns="0" bIns="0" rtlCol="0" anchor="ctr"/>
          <a:lstStyle/>
          <a:p>
            <a:pPr marL="0" indent="0">
              <a:buNone/>
            </a:pPr>
            <a:r>
              <a:rPr lang="en-US" sz="1100" b="1" kern="0" spc="300" dirty="0">
                <a:solidFill>
                  <a:srgbClr val="FFFFFF"/>
                </a:solidFill>
                <a:latin typeface="Arial" pitchFamily="34" charset="0"/>
                <a:ea typeface="Arial" pitchFamily="34" charset="-122"/>
                <a:cs typeface="Arial" pitchFamily="34" charset="-120"/>
              </a:rPr>
              <a:t>Stage 2</a:t>
            </a:r>
            <a:endParaRPr lang="en-US" sz="1100" dirty="0"/>
          </a:p>
        </p:txBody>
      </p:sp>
      <p:sp>
        <p:nvSpPr>
          <p:cNvPr id="16" name="Text 14"/>
          <p:cNvSpPr/>
          <p:nvPr/>
        </p:nvSpPr>
        <p:spPr>
          <a:xfrm>
            <a:off x="4503420" y="1645920"/>
            <a:ext cx="3154680" cy="411480"/>
          </a:xfrm>
          <a:prstGeom prst="rect">
            <a:avLst/>
          </a:prstGeom>
          <a:noFill/>
          <a:ln/>
        </p:spPr>
        <p:txBody>
          <a:bodyPr wrap="square" lIns="0" tIns="0" rIns="0" bIns="0" rtlCol="0" anchor="t"/>
          <a:lstStyle/>
          <a:p>
            <a:pPr marL="0" indent="0">
              <a:buNone/>
            </a:pPr>
            <a:r>
              <a:rPr lang="en-US" sz="1300" b="1" dirty="0">
                <a:solidFill>
                  <a:srgbClr val="FFFFFF"/>
                </a:solidFill>
                <a:latin typeface="Arial" pitchFamily="34" charset="0"/>
                <a:ea typeface="Arial" pitchFamily="34" charset="-122"/>
                <a:cs typeface="Arial" pitchFamily="34" charset="-120"/>
              </a:rPr>
              <a:t>Operating model and aircraft assessment</a:t>
            </a:r>
            <a:endParaRPr lang="en-US" sz="1300" dirty="0"/>
          </a:p>
        </p:txBody>
      </p:sp>
      <p:sp>
        <p:nvSpPr>
          <p:cNvPr id="17" name="Text 15"/>
          <p:cNvSpPr/>
          <p:nvPr/>
        </p:nvSpPr>
        <p:spPr>
          <a:xfrm>
            <a:off x="4503420" y="2194560"/>
            <a:ext cx="3154680" cy="27432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4-6 weeks (can run in parallel)</a:t>
            </a:r>
            <a:endParaRPr lang="en-US" sz="1100" dirty="0"/>
          </a:p>
        </p:txBody>
      </p:sp>
      <p:sp>
        <p:nvSpPr>
          <p:cNvPr id="18" name="Text 16"/>
          <p:cNvSpPr/>
          <p:nvPr/>
        </p:nvSpPr>
        <p:spPr>
          <a:xfrm>
            <a:off x="4503420" y="2560320"/>
            <a:ext cx="315468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Operating model evaluation across direct, hub-feed, seasonal and cargo-combination cases</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XLR performance study with Airbus Consulting, runway and obstacle environment</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Comparator analysis against live secondary-city long-haul launches</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Recommended service shape and aircraft positioning</a:t>
            </a:r>
            <a:endParaRPr lang="en-US" sz="1000" dirty="0"/>
          </a:p>
        </p:txBody>
      </p:sp>
      <p:sp>
        <p:nvSpPr>
          <p:cNvPr id="19" name="Shape 17"/>
          <p:cNvSpPr/>
          <p:nvPr/>
        </p:nvSpPr>
        <p:spPr>
          <a:xfrm>
            <a:off x="4503420" y="4800600"/>
            <a:ext cx="3154680" cy="0"/>
          </a:xfrm>
          <a:prstGeom prst="line">
            <a:avLst/>
          </a:prstGeom>
          <a:noFill/>
          <a:ln w="6350">
            <a:solidFill>
              <a:srgbClr val="BFBFBF"/>
            </a:solidFill>
            <a:prstDash val="solid"/>
          </a:ln>
        </p:spPr>
      </p:sp>
      <p:sp>
        <p:nvSpPr>
          <p:cNvPr id="20" name="Text 18"/>
          <p:cNvSpPr/>
          <p:nvPr/>
        </p:nvSpPr>
        <p:spPr>
          <a:xfrm>
            <a:off x="4503420" y="4864608"/>
            <a:ext cx="3154680"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OUTPUT</a:t>
            </a:r>
            <a:endParaRPr lang="en-US" sz="800" dirty="0"/>
          </a:p>
        </p:txBody>
      </p:sp>
      <p:sp>
        <p:nvSpPr>
          <p:cNvPr id="21" name="Text 19"/>
          <p:cNvSpPr/>
          <p:nvPr/>
        </p:nvSpPr>
        <p:spPr>
          <a:xfrm>
            <a:off x="4503420" y="5029200"/>
            <a:ext cx="3154680" cy="365760"/>
          </a:xfrm>
          <a:prstGeom prst="rect">
            <a:avLst/>
          </a:prstGeom>
          <a:noFill/>
          <a:ln/>
        </p:spPr>
        <p:txBody>
          <a:bodyPr wrap="square" lIns="0" tIns="0" rIns="0" bIns="0" rtlCol="0" anchor="ctr"/>
          <a:lstStyle/>
          <a:p>
            <a:pPr marL="0" indent="0">
              <a:buNone/>
            </a:pPr>
            <a:r>
              <a:rPr lang="en-US" sz="1000" i="1" dirty="0">
                <a:solidFill>
                  <a:srgbClr val="2A2A2A"/>
                </a:solidFill>
                <a:latin typeface="Arial" pitchFamily="34" charset="0"/>
                <a:ea typeface="Arial" pitchFamily="34" charset="-122"/>
                <a:cs typeface="Arial" pitchFamily="34" charset="-120"/>
              </a:rPr>
              <a:t>An evidenced recommendation on the right operating model and aircraft for the demand identified.</a:t>
            </a:r>
            <a:endParaRPr lang="en-US" sz="1000" dirty="0"/>
          </a:p>
        </p:txBody>
      </p:sp>
      <p:sp>
        <p:nvSpPr>
          <p:cNvPr id="22" name="Shape 20"/>
          <p:cNvSpPr/>
          <p:nvPr/>
        </p:nvSpPr>
        <p:spPr>
          <a:xfrm>
            <a:off x="8023860" y="1280160"/>
            <a:ext cx="3611880" cy="4114800"/>
          </a:xfrm>
          <a:prstGeom prst="rect">
            <a:avLst/>
          </a:prstGeom>
          <a:solidFill>
            <a:srgbClr val="FFFFFF"/>
          </a:solidFill>
          <a:ln w="6350">
            <a:solidFill>
              <a:srgbClr val="BFBFBF"/>
            </a:solidFill>
            <a:prstDash val="solid"/>
          </a:ln>
        </p:spPr>
      </p:sp>
      <p:sp>
        <p:nvSpPr>
          <p:cNvPr id="23" name="Shape 21"/>
          <p:cNvSpPr/>
          <p:nvPr/>
        </p:nvSpPr>
        <p:spPr>
          <a:xfrm>
            <a:off x="8023860" y="1280160"/>
            <a:ext cx="3611880" cy="822960"/>
          </a:xfrm>
          <a:prstGeom prst="rect">
            <a:avLst/>
          </a:prstGeom>
          <a:solidFill>
            <a:srgbClr val="8FAADC"/>
          </a:solidFill>
          <a:ln w="12700">
            <a:solidFill>
              <a:srgbClr val="8FAADC"/>
            </a:solidFill>
            <a:prstDash val="solid"/>
          </a:ln>
        </p:spPr>
      </p:sp>
      <p:sp>
        <p:nvSpPr>
          <p:cNvPr id="24" name="Text 22"/>
          <p:cNvSpPr/>
          <p:nvPr/>
        </p:nvSpPr>
        <p:spPr>
          <a:xfrm>
            <a:off x="8252460" y="1371600"/>
            <a:ext cx="3154680" cy="274320"/>
          </a:xfrm>
          <a:prstGeom prst="rect">
            <a:avLst/>
          </a:prstGeom>
          <a:noFill/>
          <a:ln/>
        </p:spPr>
        <p:txBody>
          <a:bodyPr wrap="square" lIns="0" tIns="0" rIns="0" bIns="0" rtlCol="0" anchor="ctr"/>
          <a:lstStyle/>
          <a:p>
            <a:pPr marL="0" indent="0">
              <a:buNone/>
            </a:pPr>
            <a:r>
              <a:rPr lang="en-US" sz="1100" b="1" kern="0" spc="300" dirty="0">
                <a:solidFill>
                  <a:srgbClr val="FFFFFF"/>
                </a:solidFill>
                <a:latin typeface="Arial" pitchFamily="34" charset="0"/>
                <a:ea typeface="Arial" pitchFamily="34" charset="-122"/>
                <a:cs typeface="Arial" pitchFamily="34" charset="-120"/>
              </a:rPr>
              <a:t>Stage 3</a:t>
            </a:r>
            <a:endParaRPr lang="en-US" sz="1100" dirty="0"/>
          </a:p>
        </p:txBody>
      </p:sp>
      <p:sp>
        <p:nvSpPr>
          <p:cNvPr id="25" name="Text 23"/>
          <p:cNvSpPr/>
          <p:nvPr/>
        </p:nvSpPr>
        <p:spPr>
          <a:xfrm>
            <a:off x="8252460" y="1645920"/>
            <a:ext cx="3154680" cy="411480"/>
          </a:xfrm>
          <a:prstGeom prst="rect">
            <a:avLst/>
          </a:prstGeom>
          <a:noFill/>
          <a:ln/>
        </p:spPr>
        <p:txBody>
          <a:bodyPr wrap="square" lIns="0" tIns="0" rIns="0" bIns="0" rtlCol="0" anchor="t"/>
          <a:lstStyle/>
          <a:p>
            <a:pPr marL="0" indent="0">
              <a:buNone/>
            </a:pPr>
            <a:r>
              <a:rPr lang="en-US" sz="1300" b="1" dirty="0">
                <a:solidFill>
                  <a:srgbClr val="FFFFFF"/>
                </a:solidFill>
                <a:latin typeface="Arial" pitchFamily="34" charset="0"/>
                <a:ea typeface="Arial" pitchFamily="34" charset="-122"/>
                <a:cs typeface="Arial" pitchFamily="34" charset="-120"/>
              </a:rPr>
              <a:t>Airline targeting and engagement</a:t>
            </a:r>
            <a:endParaRPr lang="en-US" sz="1300" dirty="0"/>
          </a:p>
        </p:txBody>
      </p:sp>
      <p:sp>
        <p:nvSpPr>
          <p:cNvPr id="26" name="Text 24"/>
          <p:cNvSpPr/>
          <p:nvPr/>
        </p:nvSpPr>
        <p:spPr>
          <a:xfrm>
            <a:off x="8252460" y="2194560"/>
            <a:ext cx="3154680" cy="274320"/>
          </a:xfrm>
          <a:prstGeom prst="rect">
            <a:avLst/>
          </a:prstGeom>
          <a:noFill/>
          <a:ln/>
        </p:spPr>
        <p:txBody>
          <a:bodyPr wrap="square" lIns="0" tIns="0" rIns="0" bIns="0" rtlCol="0" anchor="ctr"/>
          <a:lstStyle/>
          <a:p>
            <a:pPr marL="0" indent="0">
              <a:buNone/>
            </a:pPr>
            <a:r>
              <a:rPr lang="en-US" sz="1100" i="1" dirty="0">
                <a:solidFill>
                  <a:srgbClr val="595959"/>
                </a:solidFill>
                <a:latin typeface="Arial" pitchFamily="34" charset="0"/>
                <a:ea typeface="Arial" pitchFamily="34" charset="-122"/>
                <a:cs typeface="Arial" pitchFamily="34" charset="-120"/>
              </a:rPr>
              <a:t>6-8 weeks following Stage 1</a:t>
            </a:r>
            <a:endParaRPr lang="en-US" sz="1100" dirty="0"/>
          </a:p>
        </p:txBody>
      </p:sp>
      <p:sp>
        <p:nvSpPr>
          <p:cNvPr id="27" name="Text 25"/>
          <p:cNvSpPr/>
          <p:nvPr/>
        </p:nvSpPr>
        <p:spPr>
          <a:xfrm>
            <a:off x="8252460" y="2560320"/>
            <a:ext cx="315468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Refined carrier shortlist tested against the Stage 1 demand picture</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Bespoke pitch documentation per target carrier</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Introductions and pitch support where appropriate</a:t>
            </a:r>
            <a:endParaRPr lang="en-US" sz="1000" dirty="0"/>
          </a:p>
          <a:p>
            <a:pPr marL="342900" indent="-342900">
              <a:spcAft>
                <a:spcPts val="400"/>
              </a:spcAft>
              <a:buSzPct val="100000"/>
              <a:buChar char="•"/>
            </a:pPr>
            <a:r>
              <a:rPr lang="en-US" sz="1000" dirty="0">
                <a:solidFill>
                  <a:srgbClr val="2A2A2A"/>
                </a:solidFill>
                <a:latin typeface="Arial" pitchFamily="34" charset="0"/>
                <a:ea typeface="Arial" pitchFamily="34" charset="-122"/>
                <a:cs typeface="Arial" pitchFamily="34" charset="-120"/>
              </a:rPr>
              <a:t>Negotiation and incentive structure advisory</a:t>
            </a:r>
            <a:endParaRPr lang="en-US" sz="1000" dirty="0"/>
          </a:p>
        </p:txBody>
      </p:sp>
      <p:sp>
        <p:nvSpPr>
          <p:cNvPr id="28" name="Shape 26"/>
          <p:cNvSpPr/>
          <p:nvPr/>
        </p:nvSpPr>
        <p:spPr>
          <a:xfrm>
            <a:off x="8252460" y="4800600"/>
            <a:ext cx="3154680" cy="0"/>
          </a:xfrm>
          <a:prstGeom prst="line">
            <a:avLst/>
          </a:prstGeom>
          <a:noFill/>
          <a:ln w="6350">
            <a:solidFill>
              <a:srgbClr val="BFBFBF"/>
            </a:solidFill>
            <a:prstDash val="solid"/>
          </a:ln>
        </p:spPr>
      </p:sp>
      <p:sp>
        <p:nvSpPr>
          <p:cNvPr id="29" name="Text 27"/>
          <p:cNvSpPr/>
          <p:nvPr/>
        </p:nvSpPr>
        <p:spPr>
          <a:xfrm>
            <a:off x="8252460" y="4864608"/>
            <a:ext cx="3154680" cy="182880"/>
          </a:xfrm>
          <a:prstGeom prst="rect">
            <a:avLst/>
          </a:prstGeom>
          <a:noFill/>
          <a:ln/>
        </p:spPr>
        <p:txBody>
          <a:bodyPr wrap="square" lIns="0" tIns="0" rIns="0" bIns="0" rtlCol="0" anchor="ctr"/>
          <a:lstStyle/>
          <a:p>
            <a:pPr marL="0" indent="0">
              <a:buNone/>
            </a:pPr>
            <a:r>
              <a:rPr lang="en-US" sz="800" b="1" kern="0" spc="200" dirty="0">
                <a:solidFill>
                  <a:srgbClr val="595959"/>
                </a:solidFill>
                <a:latin typeface="Arial" pitchFamily="34" charset="0"/>
                <a:ea typeface="Arial" pitchFamily="34" charset="-122"/>
                <a:cs typeface="Arial" pitchFamily="34" charset="-120"/>
              </a:rPr>
              <a:t>OUTPUT</a:t>
            </a:r>
            <a:endParaRPr lang="en-US" sz="800" dirty="0"/>
          </a:p>
        </p:txBody>
      </p:sp>
      <p:sp>
        <p:nvSpPr>
          <p:cNvPr id="30" name="Text 28"/>
          <p:cNvSpPr/>
          <p:nvPr/>
        </p:nvSpPr>
        <p:spPr>
          <a:xfrm>
            <a:off x="8252460" y="5029200"/>
            <a:ext cx="3154680" cy="365760"/>
          </a:xfrm>
          <a:prstGeom prst="rect">
            <a:avLst/>
          </a:prstGeom>
          <a:noFill/>
          <a:ln/>
        </p:spPr>
        <p:txBody>
          <a:bodyPr wrap="square" lIns="0" tIns="0" rIns="0" bIns="0" rtlCol="0" anchor="ctr"/>
          <a:lstStyle/>
          <a:p>
            <a:pPr marL="0" indent="0">
              <a:buNone/>
            </a:pPr>
            <a:r>
              <a:rPr lang="en-US" sz="1000" i="1" dirty="0">
                <a:solidFill>
                  <a:srgbClr val="2A2A2A"/>
                </a:solidFill>
                <a:latin typeface="Arial" pitchFamily="34" charset="0"/>
                <a:ea typeface="Arial" pitchFamily="34" charset="-122"/>
                <a:cs typeface="Arial" pitchFamily="34" charset="-120"/>
              </a:rPr>
              <a:t>Active engagement with the carriers most likely to find the opportunity commercially attractive.</a:t>
            </a:r>
            <a:endParaRPr lang="en-US" sz="1000" dirty="0"/>
          </a:p>
        </p:txBody>
      </p:sp>
      <p:sp>
        <p:nvSpPr>
          <p:cNvPr id="31" name="Text 29"/>
          <p:cNvSpPr/>
          <p:nvPr/>
        </p:nvSpPr>
        <p:spPr>
          <a:xfrm>
            <a:off x="457200" y="5669280"/>
            <a:ext cx="11247120" cy="365760"/>
          </a:xfrm>
          <a:prstGeom prst="rect">
            <a:avLst/>
          </a:prstGeom>
          <a:noFill/>
          <a:ln/>
        </p:spPr>
        <p:txBody>
          <a:bodyPr wrap="square" lIns="0" tIns="0" rIns="0" bIns="0" rtlCol="0" anchor="ctr"/>
          <a:lstStyle/>
          <a:p>
            <a:pPr marL="0" indent="0" algn="ctr">
              <a:buNone/>
            </a:pPr>
            <a:r>
              <a:rPr lang="en-US" sz="1300" b="1" i="1" dirty="0">
                <a:solidFill>
                  <a:srgbClr val="1F3864"/>
                </a:solidFill>
                <a:latin typeface="Arial" pitchFamily="34" charset="0"/>
                <a:ea typeface="Arial" pitchFamily="34" charset="-122"/>
                <a:cs typeface="Arial" pitchFamily="34" charset="-120"/>
              </a:rPr>
              <a:t>Genoa can stop at the end of any stage. Each output is independently valuable.</a:t>
            </a:r>
            <a:endParaRPr lang="en-US" sz="1300" dirty="0"/>
          </a:p>
        </p:txBody>
      </p:sp>
      <p:sp>
        <p:nvSpPr>
          <p:cNvPr id="32" name="Text 30"/>
          <p:cNvSpPr/>
          <p:nvPr/>
        </p:nvSpPr>
        <p:spPr>
          <a:xfrm>
            <a:off x="457200" y="6035040"/>
            <a:ext cx="11247120" cy="365760"/>
          </a:xfrm>
          <a:prstGeom prst="rect">
            <a:avLst/>
          </a:prstGeom>
          <a:noFill/>
          <a:ln/>
        </p:spPr>
        <p:txBody>
          <a:bodyPr wrap="square" lIns="0" tIns="0" rIns="0" bIns="0" rtlCol="0" anchor="ctr"/>
          <a:lstStyle/>
          <a:p>
            <a:pPr marL="0" indent="0" algn="ctr">
              <a:buNone/>
            </a:pPr>
            <a:r>
              <a:rPr lang="en-US" sz="1100" i="1" dirty="0">
                <a:solidFill>
                  <a:srgbClr val="595959"/>
                </a:solidFill>
                <a:latin typeface="Arial" pitchFamily="34" charset="0"/>
                <a:ea typeface="Arial" pitchFamily="34" charset="-122"/>
                <a:cs typeface="Arial" pitchFamily="34" charset="-120"/>
              </a:rPr>
              <a:t>Stage 1 is the natural starting point and the foundation for everything that follows. We would propose to scope it formally following this conversation.</a:t>
            </a:r>
            <a:endParaRPr lang="en-US" sz="1100" dirty="0"/>
          </a:p>
        </p:txBody>
      </p:sp>
      <p:sp>
        <p:nvSpPr>
          <p:cNvPr id="33" name="Text 31"/>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34" name="Text 32"/>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457200" y="640080"/>
            <a:ext cx="11247120" cy="457200"/>
          </a:xfrm>
          <a:prstGeom prst="rect">
            <a:avLst/>
          </a:prstGeom>
          <a:noFill/>
          <a:ln/>
        </p:spPr>
        <p:txBody>
          <a:bodyPr wrap="square" lIns="0" tIns="0" rIns="0" bIns="0" rtlCol="0" anchor="ctr"/>
          <a:lstStyle/>
          <a:p>
            <a:pPr marL="0" indent="0">
              <a:buNone/>
            </a:pPr>
            <a:r>
              <a:rPr lang="en-US" sz="1400" b="1" kern="0" spc="400" dirty="0">
                <a:solidFill>
                  <a:srgbClr val="8FAADC"/>
                </a:solidFill>
                <a:latin typeface="Arial" pitchFamily="34" charset="0"/>
                <a:ea typeface="Arial" pitchFamily="34" charset="-122"/>
                <a:cs typeface="Arial" pitchFamily="34" charset="-120"/>
              </a:rPr>
              <a:t>Where we see this</a:t>
            </a:r>
            <a:endParaRPr lang="en-US" sz="1400" dirty="0"/>
          </a:p>
        </p:txBody>
      </p:sp>
      <p:sp>
        <p:nvSpPr>
          <p:cNvPr id="3" name="Text 1"/>
          <p:cNvSpPr/>
          <p:nvPr/>
        </p:nvSpPr>
        <p:spPr>
          <a:xfrm>
            <a:off x="457200" y="1188720"/>
            <a:ext cx="1124712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 genuine opportunity, properly worth the analytical work</a:t>
            </a:r>
            <a:endParaRPr lang="en-US" sz="3200" dirty="0"/>
          </a:p>
        </p:txBody>
      </p:sp>
      <p:sp>
        <p:nvSpPr>
          <p:cNvPr id="4" name="Text 2"/>
          <p:cNvSpPr/>
          <p:nvPr/>
        </p:nvSpPr>
        <p:spPr>
          <a:xfrm>
            <a:off x="731520" y="2377440"/>
            <a:ext cx="640080" cy="914400"/>
          </a:xfrm>
          <a:prstGeom prst="rect">
            <a:avLst/>
          </a:prstGeom>
          <a:noFill/>
          <a:ln/>
        </p:spPr>
        <p:txBody>
          <a:bodyPr wrap="square" lIns="0" tIns="0" rIns="0" bIns="0" rtlCol="0" anchor="ctr"/>
          <a:lstStyle/>
          <a:p>
            <a:pPr marL="0" indent="0">
              <a:buNone/>
            </a:pPr>
            <a:r>
              <a:rPr lang="en-US" sz="4400" b="1" dirty="0">
                <a:solidFill>
                  <a:srgbClr val="8FAADC"/>
                </a:solidFill>
                <a:latin typeface="Arial" pitchFamily="34" charset="0"/>
                <a:ea typeface="Arial" pitchFamily="34" charset="-122"/>
                <a:cs typeface="Arial" pitchFamily="34" charset="-120"/>
              </a:rPr>
              <a:t>1</a:t>
            </a:r>
            <a:endParaRPr lang="en-US" sz="4400" dirty="0"/>
          </a:p>
        </p:txBody>
      </p:sp>
      <p:sp>
        <p:nvSpPr>
          <p:cNvPr id="5" name="Text 3"/>
          <p:cNvSpPr/>
          <p:nvPr/>
        </p:nvSpPr>
        <p:spPr>
          <a:xfrm>
            <a:off x="1554480" y="2423160"/>
            <a:ext cx="96012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Demand exists</a:t>
            </a:r>
            <a:endParaRPr lang="en-US" sz="1600" dirty="0"/>
          </a:p>
        </p:txBody>
      </p:sp>
      <p:sp>
        <p:nvSpPr>
          <p:cNvPr id="6" name="Text 4"/>
          <p:cNvSpPr/>
          <p:nvPr/>
        </p:nvSpPr>
        <p:spPr>
          <a:xfrm>
            <a:off x="1554480" y="2834640"/>
            <a:ext cx="9601200" cy="640080"/>
          </a:xfrm>
          <a:prstGeom prst="rect">
            <a:avLst/>
          </a:prstGeom>
          <a:noFill/>
          <a:ln/>
        </p:spPr>
        <p:txBody>
          <a:bodyPr wrap="square" lIns="0" tIns="0" rIns="0" bIns="0" rtlCol="0" anchor="ctr"/>
          <a:lstStyle/>
          <a:p>
            <a:pPr marL="0" indent="0">
              <a:buNone/>
            </a:pPr>
            <a:r>
              <a:rPr lang="en-US" sz="1200" dirty="0">
                <a:solidFill>
                  <a:srgbClr val="DEEBF7"/>
                </a:solidFill>
                <a:latin typeface="Arial" pitchFamily="34" charset="0"/>
                <a:ea typeface="Arial" pitchFamily="34" charset="-122"/>
                <a:cs typeface="Arial" pitchFamily="34" charset="-120"/>
              </a:rPr>
              <a:t>Italy to New York is a large, mature market. Genoa's question is not whether demand is real but how much of it can be defended.</a:t>
            </a:r>
            <a:endParaRPr lang="en-US" sz="1200" dirty="0"/>
          </a:p>
        </p:txBody>
      </p:sp>
      <p:sp>
        <p:nvSpPr>
          <p:cNvPr id="7" name="Text 5"/>
          <p:cNvSpPr/>
          <p:nvPr/>
        </p:nvSpPr>
        <p:spPr>
          <a:xfrm>
            <a:off x="731520" y="3566160"/>
            <a:ext cx="640080" cy="914400"/>
          </a:xfrm>
          <a:prstGeom prst="rect">
            <a:avLst/>
          </a:prstGeom>
          <a:noFill/>
          <a:ln/>
        </p:spPr>
        <p:txBody>
          <a:bodyPr wrap="square" lIns="0" tIns="0" rIns="0" bIns="0" rtlCol="0" anchor="ctr"/>
          <a:lstStyle/>
          <a:p>
            <a:pPr marL="0" indent="0">
              <a:buNone/>
            </a:pPr>
            <a:r>
              <a:rPr lang="en-US" sz="4400" b="1" dirty="0">
                <a:solidFill>
                  <a:srgbClr val="8FAADC"/>
                </a:solidFill>
                <a:latin typeface="Arial" pitchFamily="34" charset="0"/>
                <a:ea typeface="Arial" pitchFamily="34" charset="-122"/>
                <a:cs typeface="Arial" pitchFamily="34" charset="-120"/>
              </a:rPr>
              <a:t>2</a:t>
            </a:r>
            <a:endParaRPr lang="en-US" sz="4400" dirty="0"/>
          </a:p>
        </p:txBody>
      </p:sp>
      <p:sp>
        <p:nvSpPr>
          <p:cNvPr id="8" name="Text 6"/>
          <p:cNvSpPr/>
          <p:nvPr/>
        </p:nvSpPr>
        <p:spPr>
          <a:xfrm>
            <a:off x="1554480" y="3611880"/>
            <a:ext cx="96012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The catchment evidence is the starting point</a:t>
            </a:r>
            <a:endParaRPr lang="en-US" sz="1600" dirty="0"/>
          </a:p>
        </p:txBody>
      </p:sp>
      <p:sp>
        <p:nvSpPr>
          <p:cNvPr id="9" name="Text 7"/>
          <p:cNvSpPr/>
          <p:nvPr/>
        </p:nvSpPr>
        <p:spPr>
          <a:xfrm>
            <a:off x="1554480" y="4023360"/>
            <a:ext cx="9601200" cy="640080"/>
          </a:xfrm>
          <a:prstGeom prst="rect">
            <a:avLst/>
          </a:prstGeom>
          <a:noFill/>
          <a:ln/>
        </p:spPr>
        <p:txBody>
          <a:bodyPr wrap="square" lIns="0" tIns="0" rIns="0" bIns="0" rtlCol="0" anchor="ctr"/>
          <a:lstStyle/>
          <a:p>
            <a:pPr marL="0" indent="0">
              <a:buNone/>
            </a:pPr>
            <a:r>
              <a:rPr lang="en-US" sz="1200" dirty="0">
                <a:solidFill>
                  <a:srgbClr val="DEEBF7"/>
                </a:solidFill>
                <a:latin typeface="Arial" pitchFamily="34" charset="0"/>
                <a:ea typeface="Arial" pitchFamily="34" charset="-122"/>
                <a:cs typeface="Arial" pitchFamily="34" charset="-120"/>
              </a:rPr>
              <a:t>Sabre point-of-origin, cell data and structured surveys are the foundation of any credible airline conversation. Stage 1 would assemble this evidence properly.</a:t>
            </a:r>
            <a:endParaRPr lang="en-US" sz="1200" dirty="0"/>
          </a:p>
        </p:txBody>
      </p:sp>
      <p:sp>
        <p:nvSpPr>
          <p:cNvPr id="10" name="Text 8"/>
          <p:cNvSpPr/>
          <p:nvPr/>
        </p:nvSpPr>
        <p:spPr>
          <a:xfrm>
            <a:off x="731520" y="4754880"/>
            <a:ext cx="640080" cy="914400"/>
          </a:xfrm>
          <a:prstGeom prst="rect">
            <a:avLst/>
          </a:prstGeom>
          <a:noFill/>
          <a:ln/>
        </p:spPr>
        <p:txBody>
          <a:bodyPr wrap="square" lIns="0" tIns="0" rIns="0" bIns="0" rtlCol="0" anchor="ctr"/>
          <a:lstStyle/>
          <a:p>
            <a:pPr marL="0" indent="0">
              <a:buNone/>
            </a:pPr>
            <a:r>
              <a:rPr lang="en-US" sz="4400" b="1" dirty="0">
                <a:solidFill>
                  <a:srgbClr val="8FAADC"/>
                </a:solidFill>
                <a:latin typeface="Arial" pitchFamily="34" charset="0"/>
                <a:ea typeface="Arial" pitchFamily="34" charset="-122"/>
                <a:cs typeface="Arial" pitchFamily="34" charset="-120"/>
              </a:rPr>
              <a:t>3</a:t>
            </a:r>
            <a:endParaRPr lang="en-US" sz="4400" dirty="0"/>
          </a:p>
        </p:txBody>
      </p:sp>
      <p:sp>
        <p:nvSpPr>
          <p:cNvPr id="11" name="Text 9"/>
          <p:cNvSpPr/>
          <p:nvPr/>
        </p:nvSpPr>
        <p:spPr>
          <a:xfrm>
            <a:off x="1554480" y="4800600"/>
            <a:ext cx="960120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Multiple service shapes are plausible</a:t>
            </a:r>
            <a:endParaRPr lang="en-US" sz="1600" dirty="0"/>
          </a:p>
        </p:txBody>
      </p:sp>
      <p:sp>
        <p:nvSpPr>
          <p:cNvPr id="12" name="Text 10"/>
          <p:cNvSpPr/>
          <p:nvPr/>
        </p:nvSpPr>
        <p:spPr>
          <a:xfrm>
            <a:off x="1554480" y="5212080"/>
            <a:ext cx="9601200" cy="640080"/>
          </a:xfrm>
          <a:prstGeom prst="rect">
            <a:avLst/>
          </a:prstGeom>
          <a:noFill/>
          <a:ln/>
        </p:spPr>
        <p:txBody>
          <a:bodyPr wrap="square" lIns="0" tIns="0" rIns="0" bIns="0" rtlCol="0" anchor="ctr"/>
          <a:lstStyle/>
          <a:p>
            <a:pPr marL="0" indent="0">
              <a:buNone/>
            </a:pPr>
            <a:r>
              <a:rPr lang="en-US" sz="1200" dirty="0">
                <a:solidFill>
                  <a:srgbClr val="DEEBF7"/>
                </a:solidFill>
                <a:latin typeface="Arial" pitchFamily="34" charset="0"/>
                <a:ea typeface="Arial" pitchFamily="34" charset="-122"/>
                <a:cs typeface="Arial" pitchFamily="34" charset="-120"/>
              </a:rPr>
              <a:t>The right answer may be direct narrowbody, summer-led widebody, or a hub-feed arrangement. The demand work determines which, not assumptions about aircraft.</a:t>
            </a:r>
            <a:endParaRPr lang="en-US" sz="1200" dirty="0"/>
          </a:p>
        </p:txBody>
      </p:sp>
      <p:sp>
        <p:nvSpPr>
          <p:cNvPr id="13" name="Shape 11"/>
          <p:cNvSpPr/>
          <p:nvPr/>
        </p:nvSpPr>
        <p:spPr>
          <a:xfrm>
            <a:off x="457200" y="5852160"/>
            <a:ext cx="11247120" cy="640080"/>
          </a:xfrm>
          <a:prstGeom prst="rect">
            <a:avLst/>
          </a:prstGeom>
          <a:solidFill>
            <a:srgbClr val="2F5496"/>
          </a:solidFill>
          <a:ln w="12700">
            <a:solidFill>
              <a:srgbClr val="2F5496"/>
            </a:solidFill>
            <a:prstDash val="solid"/>
          </a:ln>
        </p:spPr>
      </p:sp>
      <p:sp>
        <p:nvSpPr>
          <p:cNvPr id="14" name="Text 12"/>
          <p:cNvSpPr/>
          <p:nvPr/>
        </p:nvSpPr>
        <p:spPr>
          <a:xfrm>
            <a:off x="731520" y="5897880"/>
            <a:ext cx="10698480" cy="5486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Suggested next step: Avia to scope Stage 1 formally and revert with a short proposal for discussion.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marL="0" indent="0">
              <a:buNone/>
            </a:pPr>
            <a:r>
              <a:rPr lang="en-US" sz="2400" b="1" dirty="0">
                <a:solidFill>
                  <a:srgbClr val="1F3864"/>
                </a:solidFill>
                <a:latin typeface="Arial" pitchFamily="34" charset="0"/>
                <a:ea typeface="Arial" pitchFamily="34" charset="-122"/>
                <a:cs typeface="Arial" pitchFamily="34" charset="-120"/>
              </a:rPr>
              <a:t>What comparable cities actually did</a:t>
            </a:r>
            <a:endParaRPr lang="en-US" sz="2400" dirty="0"/>
          </a:p>
        </p:txBody>
      </p:sp>
      <p:sp>
        <p:nvSpPr>
          <p:cNvPr id="3" name="Text 1"/>
          <p:cNvSpPr/>
          <p:nvPr/>
        </p:nvSpPr>
        <p:spPr>
          <a:xfrm>
            <a:off x="457200" y="777240"/>
            <a:ext cx="11247120" cy="320040"/>
          </a:xfrm>
          <a:prstGeom prst="rect">
            <a:avLst/>
          </a:prstGeom>
          <a:noFill/>
          <a:ln/>
        </p:spPr>
        <p:txBody>
          <a:bodyPr wrap="square" lIns="0" tIns="0" rIns="0" bIns="0" rtlCol="0" anchor="ctr"/>
          <a:lstStyle/>
          <a:p>
            <a:pPr marL="0" indent="0">
              <a:buNone/>
            </a:pPr>
            <a:r>
              <a:rPr lang="en-US" sz="1300" i="1" dirty="0">
                <a:solidFill>
                  <a:srgbClr val="595959"/>
                </a:solidFill>
                <a:latin typeface="Arial" pitchFamily="34" charset="0"/>
                <a:ea typeface="Arial" pitchFamily="34" charset="-122"/>
                <a:cs typeface="Arial" pitchFamily="34" charset="-120"/>
              </a:rPr>
              <a:t>Secondary European cities that won nonstop New York, and what it took</a:t>
            </a:r>
            <a:endParaRPr lang="en-US" sz="1300" dirty="0"/>
          </a:p>
        </p:txBody>
      </p:sp>
      <p:sp>
        <p:nvSpPr>
          <p:cNvPr id="4" name="Text 2"/>
          <p:cNvSpPr/>
          <p:nvPr/>
        </p:nvSpPr>
        <p:spPr>
          <a:xfrm>
            <a:off x="457200" y="1188720"/>
            <a:ext cx="11247120" cy="822960"/>
          </a:xfrm>
          <a:prstGeom prst="rect">
            <a:avLst/>
          </a:prstGeom>
          <a:noFill/>
          <a:ln/>
        </p:spPr>
        <p:txBody>
          <a:bodyPr wrap="square" lIns="0" tIns="0" rIns="0" bIns="0" rtlCol="0" anchor="t"/>
          <a:lstStyle/>
          <a:p>
            <a:pPr marL="0" indent="0">
              <a:buNone/>
            </a:pPr>
            <a:r>
              <a:rPr lang="en-US" sz="1300" dirty="0">
                <a:solidFill>
                  <a:srgbClr val="2A2A2A"/>
                </a:solidFill>
                <a:latin typeface="Arial" pitchFamily="34" charset="0"/>
                <a:ea typeface="Arial" pitchFamily="34" charset="-122"/>
                <a:cs typeface="Arial" pitchFamily="34" charset="-120"/>
              </a:rPr>
              <a:t>Several secondary cities in our market have gained nonstop New York service since 2013. The pattern is consistent: the operators are US majors on widebodies or leisure carriers, and every sustained service launched from a connecting base several times larger than Genoa carries today. Their scale, not their aircraft, is what Genoa would need to match.</a:t>
            </a:r>
            <a:endParaRPr lang="en-US" sz="1300" dirty="0"/>
          </a:p>
        </p:txBody>
      </p:sp>
      <p:sp>
        <p:nvSpPr>
          <p:cNvPr id="5" name="Shape 3"/>
          <p:cNvSpPr/>
          <p:nvPr/>
        </p:nvSpPr>
        <p:spPr>
          <a:xfrm>
            <a:off x="525780" y="2286000"/>
            <a:ext cx="3611880" cy="1463040"/>
          </a:xfrm>
          <a:prstGeom prst="rect">
            <a:avLst/>
          </a:prstGeom>
          <a:solidFill>
            <a:srgbClr val="F7F9FC"/>
          </a:solidFill>
          <a:ln w="6350">
            <a:solidFill>
              <a:srgbClr val="BFBFBF"/>
            </a:solidFill>
            <a:prstDash val="solid"/>
          </a:ln>
        </p:spPr>
      </p:sp>
      <p:sp>
        <p:nvSpPr>
          <p:cNvPr id="6" name="Text 4"/>
          <p:cNvSpPr/>
          <p:nvPr/>
        </p:nvSpPr>
        <p:spPr>
          <a:xfrm>
            <a:off x="800100" y="2377440"/>
            <a:ext cx="3063240" cy="548640"/>
          </a:xfrm>
          <a:prstGeom prst="rect">
            <a:avLst/>
          </a:prstGeom>
          <a:noFill/>
          <a:ln/>
        </p:spPr>
        <p:txBody>
          <a:bodyPr wrap="square" lIns="0" tIns="0" rIns="0" bIns="0" rtlCol="0" anchor="ctr"/>
          <a:lstStyle/>
          <a:p>
            <a:pPr marL="0" indent="0">
              <a:buNone/>
            </a:pPr>
            <a:r>
              <a:rPr lang="en-US" sz="3800" b="1" dirty="0">
                <a:solidFill>
                  <a:srgbClr val="1F3864"/>
                </a:solidFill>
                <a:latin typeface="Arial" pitchFamily="34" charset="0"/>
                <a:ea typeface="Arial" pitchFamily="34" charset="-122"/>
                <a:cs typeface="Arial" pitchFamily="34" charset="-120"/>
              </a:rPr>
              <a:t>+43%</a:t>
            </a:r>
            <a:endParaRPr lang="en-US" sz="3800" dirty="0"/>
          </a:p>
        </p:txBody>
      </p:sp>
      <p:sp>
        <p:nvSpPr>
          <p:cNvPr id="7" name="Text 5"/>
          <p:cNvSpPr/>
          <p:nvPr/>
        </p:nvSpPr>
        <p:spPr>
          <a:xfrm>
            <a:off x="800100" y="2971800"/>
            <a:ext cx="306324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Catania, year one</a:t>
            </a:r>
            <a:endParaRPr lang="en-US" sz="1300" dirty="0"/>
          </a:p>
        </p:txBody>
      </p:sp>
      <p:sp>
        <p:nvSpPr>
          <p:cNvPr id="8" name="Text 6"/>
          <p:cNvSpPr/>
          <p:nvPr/>
        </p:nvSpPr>
        <p:spPr>
          <a:xfrm>
            <a:off x="800100" y="3246120"/>
            <a:ext cx="3063240" cy="457200"/>
          </a:xfrm>
          <a:prstGeom prst="rect">
            <a:avLst/>
          </a:prstGeom>
          <a:noFill/>
          <a:ln/>
        </p:spPr>
        <p:txBody>
          <a:bodyPr wrap="square" lIns="0" tIns="0" rIns="0" bIns="0" rtlCol="0" anchor="t"/>
          <a:lstStyle/>
          <a:p>
            <a:pPr marL="0" indent="0">
              <a:buNone/>
            </a:pPr>
            <a:r>
              <a:rPr lang="en-US" sz="1000" i="1" dirty="0">
                <a:solidFill>
                  <a:srgbClr val="595959"/>
                </a:solidFill>
                <a:latin typeface="Arial" pitchFamily="34" charset="0"/>
                <a:ea typeface="Arial" pitchFamily="34" charset="-122"/>
                <a:cs typeface="Arial" pitchFamily="34" charset="-120"/>
              </a:rPr>
              <a:t>NYC market rose 48.6k to 69.5k when Delta launched nonstop in 2025; connecting traffic barely fell.</a:t>
            </a:r>
            <a:endParaRPr lang="en-US" sz="1000" dirty="0"/>
          </a:p>
        </p:txBody>
      </p:sp>
      <p:sp>
        <p:nvSpPr>
          <p:cNvPr id="9" name="Shape 7"/>
          <p:cNvSpPr/>
          <p:nvPr/>
        </p:nvSpPr>
        <p:spPr>
          <a:xfrm>
            <a:off x="4274820" y="2286000"/>
            <a:ext cx="3611880" cy="1463040"/>
          </a:xfrm>
          <a:prstGeom prst="rect">
            <a:avLst/>
          </a:prstGeom>
          <a:solidFill>
            <a:srgbClr val="F7F9FC"/>
          </a:solidFill>
          <a:ln w="6350">
            <a:solidFill>
              <a:srgbClr val="BFBFBF"/>
            </a:solidFill>
            <a:prstDash val="solid"/>
          </a:ln>
        </p:spPr>
      </p:sp>
      <p:sp>
        <p:nvSpPr>
          <p:cNvPr id="10" name="Text 8"/>
          <p:cNvSpPr/>
          <p:nvPr/>
        </p:nvSpPr>
        <p:spPr>
          <a:xfrm>
            <a:off x="4549140" y="2377440"/>
            <a:ext cx="3063240" cy="548640"/>
          </a:xfrm>
          <a:prstGeom prst="rect">
            <a:avLst/>
          </a:prstGeom>
          <a:noFill/>
          <a:ln/>
        </p:spPr>
        <p:txBody>
          <a:bodyPr wrap="square" lIns="0" tIns="0" rIns="0" bIns="0" rtlCol="0" anchor="ctr"/>
          <a:lstStyle/>
          <a:p>
            <a:pPr marL="0" indent="0">
              <a:buNone/>
            </a:pPr>
            <a:r>
              <a:rPr lang="en-US" sz="3800" b="1" dirty="0">
                <a:solidFill>
                  <a:srgbClr val="2F5496"/>
                </a:solidFill>
                <a:latin typeface="Arial" pitchFamily="34" charset="0"/>
                <a:ea typeface="Arial" pitchFamily="34" charset="-122"/>
                <a:cs typeface="Arial" pitchFamily="34" charset="-120"/>
              </a:rPr>
              <a:t>+24%</a:t>
            </a:r>
            <a:endParaRPr lang="en-US" sz="3800" dirty="0"/>
          </a:p>
        </p:txBody>
      </p:sp>
      <p:sp>
        <p:nvSpPr>
          <p:cNvPr id="11" name="Text 9"/>
          <p:cNvSpPr/>
          <p:nvPr/>
        </p:nvSpPr>
        <p:spPr>
          <a:xfrm>
            <a:off x="4549140" y="2971800"/>
            <a:ext cx="306324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Nonstop yield premium</a:t>
            </a:r>
            <a:endParaRPr lang="en-US" sz="1300" dirty="0"/>
          </a:p>
        </p:txBody>
      </p:sp>
      <p:sp>
        <p:nvSpPr>
          <p:cNvPr id="12" name="Text 10"/>
          <p:cNvSpPr/>
          <p:nvPr/>
        </p:nvSpPr>
        <p:spPr>
          <a:xfrm>
            <a:off x="4549140" y="3246120"/>
            <a:ext cx="3063240" cy="457200"/>
          </a:xfrm>
          <a:prstGeom prst="rect">
            <a:avLst/>
          </a:prstGeom>
          <a:noFill/>
          <a:ln/>
        </p:spPr>
        <p:txBody>
          <a:bodyPr wrap="square" lIns="0" tIns="0" rIns="0" bIns="0" rtlCol="0" anchor="t"/>
          <a:lstStyle/>
          <a:p>
            <a:pPr marL="0" indent="0">
              <a:buNone/>
            </a:pPr>
            <a:r>
              <a:rPr lang="en-US" sz="1000" i="1" dirty="0">
                <a:solidFill>
                  <a:srgbClr val="595959"/>
                </a:solidFill>
                <a:latin typeface="Arial" pitchFamily="34" charset="0"/>
                <a:ea typeface="Arial" pitchFamily="34" charset="-122"/>
                <a:cs typeface="Arial" pitchFamily="34" charset="-120"/>
              </a:rPr>
              <a:t>Italy-NYC nonstop fares run c.24% above connecting; MXP c.28%. Genoa's connecting fare is the market's lowest.</a:t>
            </a:r>
            <a:endParaRPr lang="en-US" sz="1000" dirty="0"/>
          </a:p>
        </p:txBody>
      </p:sp>
      <p:sp>
        <p:nvSpPr>
          <p:cNvPr id="13" name="Shape 11"/>
          <p:cNvSpPr/>
          <p:nvPr/>
        </p:nvSpPr>
        <p:spPr>
          <a:xfrm>
            <a:off x="8023860" y="2286000"/>
            <a:ext cx="3611880" cy="1463040"/>
          </a:xfrm>
          <a:prstGeom prst="rect">
            <a:avLst/>
          </a:prstGeom>
          <a:solidFill>
            <a:srgbClr val="F7F9FC"/>
          </a:solidFill>
          <a:ln w="6350">
            <a:solidFill>
              <a:srgbClr val="BFBFBF"/>
            </a:solidFill>
            <a:prstDash val="solid"/>
          </a:ln>
        </p:spPr>
      </p:sp>
      <p:sp>
        <p:nvSpPr>
          <p:cNvPr id="14" name="Text 12"/>
          <p:cNvSpPr/>
          <p:nvPr/>
        </p:nvSpPr>
        <p:spPr>
          <a:xfrm>
            <a:off x="8298180" y="2377440"/>
            <a:ext cx="3063240" cy="548640"/>
          </a:xfrm>
          <a:prstGeom prst="rect">
            <a:avLst/>
          </a:prstGeom>
          <a:noFill/>
          <a:ln/>
        </p:spPr>
        <p:txBody>
          <a:bodyPr wrap="square" lIns="0" tIns="0" rIns="0" bIns="0" rtlCol="0" anchor="ctr"/>
          <a:lstStyle/>
          <a:p>
            <a:pPr marL="0" indent="0">
              <a:buNone/>
            </a:pPr>
            <a:r>
              <a:rPr lang="en-US" sz="3800" b="1" dirty="0">
                <a:solidFill>
                  <a:srgbClr val="BF8F00"/>
                </a:solidFill>
                <a:latin typeface="Arial" pitchFamily="34" charset="0"/>
                <a:ea typeface="Arial" pitchFamily="34" charset="-122"/>
                <a:cs typeface="Arial" pitchFamily="34" charset="-120"/>
              </a:rPr>
              <a:t>c.49k</a:t>
            </a:r>
            <a:endParaRPr lang="en-US" sz="3800" dirty="0"/>
          </a:p>
        </p:txBody>
      </p:sp>
      <p:sp>
        <p:nvSpPr>
          <p:cNvPr id="15" name="Text 13"/>
          <p:cNvSpPr/>
          <p:nvPr/>
        </p:nvSpPr>
        <p:spPr>
          <a:xfrm>
            <a:off x="8298180" y="2971800"/>
            <a:ext cx="3063240" cy="27432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The scale gap</a:t>
            </a:r>
            <a:endParaRPr lang="en-US" sz="1300" dirty="0"/>
          </a:p>
        </p:txBody>
      </p:sp>
      <p:sp>
        <p:nvSpPr>
          <p:cNvPr id="16" name="Text 14"/>
          <p:cNvSpPr/>
          <p:nvPr/>
        </p:nvSpPr>
        <p:spPr>
          <a:xfrm>
            <a:off x="8298180" y="3246120"/>
            <a:ext cx="3063240" cy="457200"/>
          </a:xfrm>
          <a:prstGeom prst="rect">
            <a:avLst/>
          </a:prstGeom>
          <a:noFill/>
          <a:ln/>
        </p:spPr>
        <p:txBody>
          <a:bodyPr wrap="square" lIns="0" tIns="0" rIns="0" bIns="0" rtlCol="0" anchor="t"/>
          <a:lstStyle/>
          <a:p>
            <a:pPr marL="0" indent="0">
              <a:buNone/>
            </a:pPr>
            <a:r>
              <a:rPr lang="en-US" sz="1000" i="1" dirty="0">
                <a:solidFill>
                  <a:srgbClr val="595959"/>
                </a:solidFill>
                <a:latin typeface="Arial" pitchFamily="34" charset="0"/>
                <a:ea typeface="Arial" pitchFamily="34" charset="-122"/>
                <a:cs typeface="Arial" pitchFamily="34" charset="-120"/>
              </a:rPr>
              <a:t>Catania's connecting base when Delta launched in 2025. Genoa carries 9.3k today; closing the gap is the leakage question.</a:t>
            </a:r>
            <a:endParaRPr lang="en-US" sz="1000" dirty="0"/>
          </a:p>
        </p:txBody>
      </p:sp>
      <p:sp>
        <p:nvSpPr>
          <p:cNvPr id="17" name="Text 15"/>
          <p:cNvSpPr/>
          <p:nvPr/>
        </p:nvSpPr>
        <p:spPr>
          <a:xfrm>
            <a:off x="457200" y="3800000"/>
            <a:ext cx="11247120" cy="320040"/>
          </a:xfrm>
          <a:prstGeom prst="rect">
            <a:avLst/>
          </a:prstGeom>
          <a:noFill/>
          <a:ln/>
        </p:spPr>
        <p:txBody>
          <a:bodyPr wrap="square" lIns="0" tIns="0" rIns="0" bIns="0" rtlCol="0" anchor="ctr"/>
          <a:lstStyle/>
          <a:p>
            <a:pPr marL="0" indent="0">
              <a:buNone/>
            </a:pPr>
            <a:r>
              <a:rPr lang="en-US" sz="1300" b="1" dirty="0">
                <a:solidFill>
                  <a:srgbClr val="1F3864"/>
                </a:solidFill>
                <a:latin typeface="Arial" pitchFamily="34" charset="0"/>
                <a:ea typeface="Arial" pitchFamily="34" charset="-122"/>
                <a:cs typeface="Arial" pitchFamily="34" charset="-120"/>
              </a:rPr>
              <a:t>Secondary-city nonstop New York launches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070000"/>
          <a:ext cx="11247120" cy="1560000"/>
        </p:xfrm>
        <a:graphic>
          <a:graphicData uri="http://schemas.openxmlformats.org/drawingml/2006/table">
            <a:tbl>
              <a:tblPr/>
              <a:tblGrid>
                <a:gridCol w="175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4247120">
                  <a:extLst>
                    <a:ext uri="{9D8B030D-6E8A-4147-A177-3AD203B41FA5}">
                      <a16:colId xmlns:a16="http://schemas.microsoft.com/office/drawing/2014/main" val="20002"/>
                    </a:ext>
                  </a:extLst>
                </a:gridCol>
                <a:gridCol w="1700000">
                  <a:extLst>
                    <a:ext uri="{9D8B030D-6E8A-4147-A177-3AD203B41FA5}">
                      <a16:colId xmlns:a16="http://schemas.microsoft.com/office/drawing/2014/main" val="20003"/>
                    </a:ext>
                  </a:extLst>
                </a:gridCol>
                <a:gridCol w="1900000">
                  <a:extLst>
                    <a:ext uri="{9D8B030D-6E8A-4147-A177-3AD203B41FA5}">
                      <a16:colId xmlns:a16="http://schemas.microsoft.com/office/drawing/2014/main" val="20004"/>
                    </a:ext>
                  </a:extLst>
                </a:gridCol>
              </a:tblGrid>
              <a:tr h="200000">
                <a:tc>
                  <a:txBody>
                    <a:bodyPr/>
                    <a:lstStyle/>
                    <a:p>
                      <a:pPr marL="0" indent="0">
                        <a:buNone/>
                      </a:pPr>
                      <a:r>
                        <a:rPr lang="en-US" sz="1100" b="1" dirty="0">
                          <a:solidFill>
                            <a:srgbClr val="FFFFFF"/>
                          </a:solidFill>
                          <a:latin typeface="Arial" pitchFamily="34" charset="0"/>
                          <a:ea typeface="Arial" pitchFamily="34" charset="-122"/>
                          <a:cs typeface="Arial" pitchFamily="34" charset="-120"/>
                        </a:rPr>
                        <a:t>City</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Nonstop NYC since</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Operators today (aircraft)</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Connecting 2025</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Total NYC 2025</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200000">
                <a:tc>
                  <a:txBody>
                    <a:bodyPr/>
                    <a:lstStyle/>
                    <a:p>
                      <a:pPr marL="0" indent="0">
                        <a:buNone/>
                      </a:pPr>
                      <a:r>
                        <a:rPr lang="en-US" sz="1100" b="1" dirty="0">
                          <a:solidFill>
                            <a:srgbClr val="2A2A2A"/>
                          </a:solidFill>
                          <a:latin typeface="Arial" pitchFamily="34" charset="0"/>
                          <a:ea typeface="Arial" pitchFamily="34" charset="-122"/>
                          <a:cs typeface="Arial" pitchFamily="34" charset="-120"/>
                        </a:rPr>
                        <a:t>Catania</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2025</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Delta (A330/767)</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42.1k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69.5k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00000">
                <a:tc>
                  <a:txBody>
                    <a:bodyPr/>
                    <a:lstStyle/>
                    <a:p>
                      <a:pPr marL="0" indent="0">
                        <a:buNone/>
                      </a:pPr>
                      <a:r>
                        <a:rPr lang="en-US" sz="1100" b="1" dirty="0">
                          <a:solidFill>
                            <a:srgbClr val="2A2A2A"/>
                          </a:solidFill>
                          <a:latin typeface="Arial" pitchFamily="34" charset="0"/>
                          <a:ea typeface="Arial" pitchFamily="34" charset="-122"/>
                          <a:cs typeface="Arial" pitchFamily="34" charset="-120"/>
                        </a:rPr>
                        <a:t>Naples</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2019</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United, Delta (767/A330)</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69.3k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151k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00000">
                <a:tc>
                  <a:txBody>
                    <a:bodyPr/>
                    <a:lstStyle/>
                    <a:p>
                      <a:pPr marL="0" indent="0">
                        <a:buNone/>
                      </a:pPr>
                      <a:r>
                        <a:rPr lang="en-US" sz="1100" b="1" dirty="0">
                          <a:solidFill>
                            <a:srgbClr val="2A2A2A"/>
                          </a:solidFill>
                          <a:latin typeface="Arial" pitchFamily="34" charset="0"/>
                          <a:ea typeface="Arial" pitchFamily="34" charset="-122"/>
                          <a:cs typeface="Arial" pitchFamily="34" charset="-120"/>
                        </a:rPr>
                        <a:t>Nice</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2013</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Delta, United, La Compagnie (A321neo)</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90.9k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177k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00000">
                <a:tc>
                  <a:txBody>
                    <a:bodyPr/>
                    <a:lstStyle/>
                    <a:p>
                      <a:pPr marL="0" indent="0">
                        <a:buNone/>
                      </a:pPr>
                      <a:r>
                        <a:rPr lang="en-US" sz="1100" b="1" dirty="0">
                          <a:solidFill>
                            <a:srgbClr val="2A2A2A"/>
                          </a:solidFill>
                          <a:latin typeface="Arial" pitchFamily="34" charset="0"/>
                          <a:ea typeface="Arial" pitchFamily="34" charset="-122"/>
                          <a:cs typeface="Arial" pitchFamily="34" charset="-120"/>
                        </a:rPr>
                        <a:t>Palermo</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2024</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Neos (787), United</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45.3k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74.3k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00000">
                <a:tc>
                  <a:txBody>
                    <a:bodyPr/>
                    <a:lstStyle/>
                    <a:p>
                      <a:pPr marL="0" indent="0">
                        <a:buNone/>
                      </a:pPr>
                      <a:r>
                        <a:rPr lang="en-US" sz="1100" b="1" dirty="0">
                          <a:solidFill>
                            <a:srgbClr val="2A2A2A"/>
                          </a:solidFill>
                          <a:latin typeface="Arial" pitchFamily="34" charset="0"/>
                          <a:ea typeface="Arial" pitchFamily="34" charset="-122"/>
                          <a:cs typeface="Arial" pitchFamily="34" charset="-120"/>
                        </a:rPr>
                        <a:t>Pisa</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2013-16, withdrawn</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none today</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8.5k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8.5k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200000">
                <a:tc>
                  <a:txBody>
                    <a:bodyPr/>
                    <a:lstStyle/>
                    <a:p>
                      <a:pPr marL="0" indent="0">
                        <a:buNone/>
                      </a:pPr>
                      <a:r>
                        <a:rPr lang="en-US" sz="1100" b="1" dirty="0">
                          <a:solidFill>
                            <a:srgbClr val="2A2A2A"/>
                          </a:solidFill>
                          <a:latin typeface="Arial" pitchFamily="34" charset="0"/>
                          <a:ea typeface="Arial" pitchFamily="34" charset="-122"/>
                          <a:cs typeface="Arial" pitchFamily="34" charset="-120"/>
                        </a:rPr>
                        <a:t>Genoa</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indirect only</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dirty="0">
                          <a:solidFill>
                            <a:srgbClr val="2A2A2A"/>
                          </a:solidFill>
                          <a:latin typeface="Arial" pitchFamily="34" charset="0"/>
                          <a:ea typeface="Arial" pitchFamily="34" charset="-122"/>
                          <a:cs typeface="Arial" pitchFamily="34" charset="-120"/>
                        </a:rPr>
                        <a:t>9.3k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100" b="1" dirty="0">
                          <a:solidFill>
                            <a:srgbClr val="1F3864"/>
                          </a:solidFill>
                          <a:latin typeface="Arial" pitchFamily="34" charset="0"/>
                          <a:ea typeface="Arial" pitchFamily="34" charset="-122"/>
                          <a:cs typeface="Arial" pitchFamily="34" charset="-120"/>
                        </a:rPr>
                        <a:t>9.3k</a:t>
                      </a:r>
                      <a:endParaRPr lang="en-US" sz="1100" dirty="0">
                        <a:latin typeface="Arial" charset="0"/>
                        <a:ea typeface="Arial" charset="0"/>
                        <a:cs typeface="Arial" charset="0"/>
                      </a:endParaRPr>
                    </a:p>
                  </a:txBody>
                  <a:tcPr marT="16000" marB="16000" marL="91440" marR="9144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9" name="Text 16"/>
          <p:cNvSpPr/>
          <p:nvPr/>
        </p:nvSpPr>
        <p:spPr>
          <a:xfrm>
            <a:off x="457200" y="5852160"/>
            <a:ext cx="11247120" cy="320040"/>
          </a:xfrm>
          <a:prstGeom prst="rect">
            <a:avLst/>
          </a:prstGeom>
          <a:noFill/>
          <a:ln/>
        </p:spPr>
        <p:txBody>
          <a:bodyPr wrap="square" lIns="0" tIns="0" rIns="0" bIns="0" rtlCol="0" anchor="ctr"/>
          <a:lstStyle/>
          <a:p>
            <a:pPr marL="0" indent="0" algn="ctr">
              <a:buNone/>
            </a:pPr>
            <a:r>
              <a:rPr lang="en-US" sz="1000" i="1" dirty="0">
                <a:solidFill>
                  <a:srgbClr val="C00000"/>
                </a:solidFill>
                <a:latin typeface="Arial" pitchFamily="34" charset="0"/>
                <a:ea typeface="Arial" pitchFamily="34" charset="-122"/>
                <a:cs typeface="Arial" pitchFamily="34" charset="-120"/>
              </a:rPr>
              <a:t>Comparators run widebodies because their markets are several times Genoa's, which proves the demand mechanism, not the aircraft. Genoa's thinner market is the case for right-sized capacity, and leakage recapture in Stage 1 sets the scale.</a:t>
            </a:r>
            <a:endParaRPr lang="en-US" sz="1000" dirty="0"/>
          </a:p>
        </p:txBody>
      </p:sp>
      <p:sp>
        <p:nvSpPr>
          <p:cNvPr id="20" name="Text 17"/>
          <p:cNvSpPr/>
          <p:nvPr/>
        </p:nvSpPr>
        <p:spPr>
          <a:xfrm>
            <a:off x="457200" y="6172200"/>
            <a:ext cx="11247120" cy="22860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Source: Sabre MIDT 2013-2025, bidirectional O&amp;D, nonstop and connecting by operating carrier. Aircraft indicative; Sabre carries no equipment field. Avia Solutions analysis.</a:t>
            </a:r>
            <a:endParaRPr lang="en-US" sz="900" dirty="0"/>
          </a:p>
        </p:txBody>
      </p:sp>
      <p:sp>
        <p:nvSpPr>
          <p:cNvPr id="21" name="Text 18"/>
          <p:cNvSpPr/>
          <p:nvPr/>
        </p:nvSpPr>
        <p:spPr>
          <a:xfrm>
            <a:off x="457200" y="6492240"/>
            <a:ext cx="8229600" cy="274320"/>
          </a:xfrm>
          <a:prstGeom prst="rect">
            <a:avLst/>
          </a:prstGeom>
          <a:noFill/>
          <a:ln/>
        </p:spPr>
        <p:txBody>
          <a:bodyPr wrap="square" lIns="0" tIns="0" rIns="0" bIns="0" rtlCol="0" anchor="ctr"/>
          <a:lstStyle/>
          <a:p>
            <a:pPr marL="0" indent="0">
              <a:buNone/>
            </a:pPr>
            <a:r>
              <a:rPr lang="en-US" sz="900" i="1" dirty="0">
                <a:solidFill>
                  <a:srgbClr val="595959"/>
                </a:solidFill>
                <a:latin typeface="Arial" pitchFamily="34" charset="0"/>
                <a:ea typeface="Arial" pitchFamily="34" charset="-122"/>
                <a:cs typeface="Arial" pitchFamily="34" charset="-120"/>
              </a:rPr>
              <a:t>Project Liguria  |  Avia Solutions Limited  |  DRAFT  |  June 2026</a:t>
            </a:r>
            <a:endParaRPr lang="en-US" sz="900" dirty="0"/>
          </a:p>
        </p:txBody>
      </p:sp>
      <p:sp>
        <p:nvSpPr>
          <p:cNvPr id="22" name="Text 19"/>
          <p:cNvSpPr/>
          <p:nvPr/>
        </p:nvSpPr>
        <p:spPr>
          <a:xfrm>
            <a:off x="10972800" y="6492240"/>
            <a:ext cx="731520" cy="274320"/>
          </a:xfrm>
          <a:prstGeom prst="rect">
            <a:avLst/>
          </a:prstGeom>
          <a:noFill/>
          <a:ln/>
        </p:spPr>
        <p:txBody>
          <a:bodyPr wrap="square" lIns="0" tIns="0" rIns="0" bIns="0" rtlCol="0" anchor="ctr"/>
          <a:lstStyle/>
          <a:p>
            <a:pPr marL="0" indent="0" algn="r">
              <a:buNone/>
            </a:pPr>
            <a:r>
              <a:rPr lang="en-US" sz="900" dirty="0">
                <a:solidFill>
                  <a:srgbClr val="595959"/>
                </a:solidFill>
                <a:latin typeface="Arial" pitchFamily="34" charset="0"/>
                <a:ea typeface="Arial" pitchFamily="34" charset="-122"/>
                <a:cs typeface="Arial" pitchFamily="34" charset="-120"/>
              </a:rPr>
              <a:t>P: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3901</Words>
  <Application>Microsoft Office PowerPoint</Application>
  <PresentationFormat>Widescreen</PresentationFormat>
  <Paragraphs>357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Avia Solutions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Liguria: Genoa to New York</dc:title>
  <dc:subject>Framing the long-haul opportunity</dc:subject>
  <dc:creator>Avia Solutions</dc:creator>
  <cp:lastModifiedBy>Avia Solutions</cp:lastModifiedBy>
  <cp:revision>1</cp:revision>
  <dcterms:created xsi:type="dcterms:W3CDTF">2026-06-26T16:49:24Z</dcterms:created>
  <dcterms:modified xsi:type="dcterms:W3CDTF">2026-06-26T16:50:58Z</dcterms:modified>
</cp:coreProperties>
</file>