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035040" cy="6035040"/>
          </a:xfrm>
          <a:prstGeom prst="ellipse">
            <a:avLst/>
          </a:prstGeom>
          <a:solidFill>
            <a:srgbClr val="1E4463"/>
          </a:solidFill>
          <a:ln w="12700">
            <a:solidFill>
              <a:srgbClr val="1E44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4389120" cy="4389120"/>
          </a:xfrm>
          <a:prstGeom prst="ellipse">
            <a:avLst/>
          </a:prstGeom>
          <a:solidFill>
            <a:srgbClr val="1B3B57"/>
          </a:solidFill>
          <a:ln w="12700">
            <a:solidFill>
              <a:srgbClr val="1B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  ·  ROUTE FORECASTING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Avia Cortex: a complete QSI forecast, in plain terms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rebuilt engine, now producing the whole number: local demand plus the connecting feed, for a named airline.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Nick's review - every assumption visible, explained, and open to refinement.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measured-demand backbone is unchanged. Hand-set rules of thumb become data-derived.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REBUILT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Avia Cortex builds a forecast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6276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cities + airline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 the origin, the destination, and the airline you're pitching the route 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38144" y="16276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3814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05072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Airports in play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airport travellers in the origin area could use, and every airport serving the destination city.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6276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1424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passengers who flew between those areas, from Sabre bookings, grown to the forecast year.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06256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70848" y="16276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907084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37776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which airport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07424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town assigned to an airport by real road driving time, flight quality and airport size.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81528" y="2372868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97880" y="2372868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14232" y="2372868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213848" y="3273552"/>
            <a:ext cx="0" cy="87782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06256" y="41605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70848" y="430682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9070848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37776" y="43251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demand (P2P)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07424" y="4837176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route's share of the local origin-to-destination market - access + flight quality + airport size.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9904" y="41605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430682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6254496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1424" y="43251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feed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91072" y="4837176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connecting BEHIND the origin and BEYOND the destination, weighted by the airline's alliance.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73552" y="41605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38144" y="430682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0" name="Text 38"/>
          <p:cNvSpPr/>
          <p:nvPr/>
        </p:nvSpPr>
        <p:spPr>
          <a:xfrm>
            <a:off x="3438144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005072" y="43251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Total, aircraft &amp; out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74720" y="4837176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feed = the QSI total, capped by the aircraft; annual passengers and the fleet &amp; frequency to fly.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14232" y="5052060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>
            <a:off x="5897880" y="5052060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headEnd type="triangle"/>
          </a:ln>
        </p:spPr>
      </p:sp>
      <p:sp>
        <p:nvSpPr>
          <p:cNvPr id="45" name="Text 43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demand plus connecting feed makes the number an airline actually negotiates over - and it differs by which airline you're selling to.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HALF, NOW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connecting feed: what makes it a QSI total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7F3F1"/>
          </a:solidFill>
          <a:ln w="1524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84248"/>
            <a:ext cx="22860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origin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feeding in, connecting onto the flight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8745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5240">
            <a:solidFill>
              <a:srgbClr val="16324F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984248"/>
            <a:ext cx="2651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-&gt;  DESTINATION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point-to-point market (P2P)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7F3F1"/>
          </a:solidFill>
          <a:ln w="1524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84248"/>
            <a:ext cx="22860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destination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carrying on past the hub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2400300"/>
            <a:ext cx="256032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9048" y="2400300"/>
            <a:ext cx="237744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915400" y="18745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TOTAL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1540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QSI number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BE7D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depends on the airline, and its alliance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41648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route captures a completely different feed depending on who flies it. BA at Heathrow sits on the Oneworld hub, so almost every onward leg is its own metal or a partner's - it scoops the bank. Put a Star Alliance carrier on the identical route and Heathrow is hostile: most legs are interline and the feed collapses. On San Jose-Heathrow, BA's beyond feed came out about 2.6 times a Star carrier's, and each picked up its OWN alliance's onward cities. So the tool forecasts for a named airline.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7F3F1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and beyond depend on geography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041648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coastal airport like San Jose has little behind it - few places feed in to connect - so its feed is mostly beyond. A central airport, say in the US Midwest, has behind and beyond roughly balanced, so both matter. This falls out of the actual flight network, not a rule. And a routing only counts if the hub is genuinely on the way: San Jose-London-Paris yes, San Jose-London-New York no, that's backtracking.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BA London-San Jose reference: the beyond feed reproduces the analyst's 48,115 to within ~1%.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ESTABLISHED METHOD (AS I UNDERSTAND IT)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analysts have built forecasts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627632"/>
            <a:ext cx="457200" cy="457200"/>
          </a:xfrm>
          <a:prstGeom prst="ellipse">
            <a:avLst/>
          </a:prstGeom>
          <a:solidFill>
            <a:srgbClr val="46647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chooses the route and which airports to include.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38144" y="1627632"/>
            <a:ext cx="457200" cy="457200"/>
          </a:xfrm>
          <a:prstGeom prst="ellipse">
            <a:avLst/>
          </a:prstGeom>
          <a:solidFill>
            <a:srgbClr val="46647A"/>
          </a:solidFill>
          <a:ln/>
        </p:spPr>
      </p:sp>
      <p:sp>
        <p:nvSpPr>
          <p:cNvPr id="11" name="Text 9"/>
          <p:cNvSpPr/>
          <p:nvPr/>
        </p:nvSpPr>
        <p:spPr>
          <a:xfrm>
            <a:off x="343814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05072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set by hand; demand shared out by fixed rules of thumb by market size.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627632"/>
            <a:ext cx="457200" cy="457200"/>
          </a:xfrm>
          <a:prstGeom prst="ellipse">
            <a:avLst/>
          </a:prstGeom>
          <a:solidFill>
            <a:srgbClr val="46647A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1424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 bookings pulled by hand for the market and grown at a chosen rate.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06256" y="1481328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70848" y="1627632"/>
            <a:ext cx="457200" cy="457200"/>
          </a:xfrm>
          <a:prstGeom prst="ellipse">
            <a:avLst/>
          </a:prstGeom>
          <a:solidFill>
            <a:srgbClr val="46647A"/>
          </a:solidFill>
          <a:ln/>
        </p:spPr>
      </p:sp>
      <p:sp>
        <p:nvSpPr>
          <p:cNvPr id="21" name="Text 19"/>
          <p:cNvSpPr/>
          <p:nvPr/>
        </p:nvSpPr>
        <p:spPr>
          <a:xfrm>
            <a:off x="907084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37776" y="1645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QSI share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07424" y="2157984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from a Quality of Service Index - frequency, timings, connections.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81528" y="2372868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97880" y="2372868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14232" y="2372868"/>
            <a:ext cx="18288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213848" y="3273552"/>
            <a:ext cx="0" cy="877824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06256" y="41605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70848" y="4306824"/>
            <a:ext cx="457200" cy="457200"/>
          </a:xfrm>
          <a:prstGeom prst="ellipse">
            <a:avLst/>
          </a:prstGeom>
          <a:solidFill>
            <a:srgbClr val="46647A"/>
          </a:solidFill>
          <a:ln/>
        </p:spPr>
      </p:sp>
      <p:sp>
        <p:nvSpPr>
          <p:cNvPr id="30" name="Text 28"/>
          <p:cNvSpPr/>
          <p:nvPr/>
        </p:nvSpPr>
        <p:spPr>
          <a:xfrm>
            <a:off x="9070848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37776" y="43251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demand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07424" y="4837176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and beyond connecting traffic built by hand from the connection tables and QSI weights.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9904" y="41605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4306824"/>
            <a:ext cx="457200" cy="457200"/>
          </a:xfrm>
          <a:prstGeom prst="ellipse">
            <a:avLst/>
          </a:prstGeom>
          <a:solidFill>
            <a:srgbClr val="46647A"/>
          </a:solidFill>
          <a:ln/>
        </p:spPr>
      </p:sp>
      <p:sp>
        <p:nvSpPr>
          <p:cNvPr id="35" name="Text 33"/>
          <p:cNvSpPr/>
          <p:nvPr/>
        </p:nvSpPr>
        <p:spPr>
          <a:xfrm>
            <a:off x="6254496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1424" y="43251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Stimulation &amp; calibrate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91072" y="4837176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uplift from experience, then nudged by hand until the load factor looks sensible.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73552" y="416052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38144" y="4306824"/>
            <a:ext cx="457200" cy="457200"/>
          </a:xfrm>
          <a:prstGeom prst="ellipse">
            <a:avLst/>
          </a:prstGeom>
          <a:solidFill>
            <a:srgbClr val="46647A"/>
          </a:solidFill>
          <a:ln/>
        </p:spPr>
      </p:sp>
      <p:sp>
        <p:nvSpPr>
          <p:cNvPr id="40" name="Text 38"/>
          <p:cNvSpPr/>
          <p:nvPr/>
        </p:nvSpPr>
        <p:spPr>
          <a:xfrm>
            <a:off x="3438144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005072" y="432511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out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74720" y="4837176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split direct and connecting and by cabin.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14232" y="5052060"/>
            <a:ext cx="182880" cy="0"/>
          </a:xfrm>
          <a:prstGeom prst="line">
            <a:avLst/>
          </a:prstGeom>
          <a:noFill/>
          <a:ln w="31750">
            <a:solidFill>
              <a:srgbClr val="46647A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>
            <a:off x="5897880" y="5052060"/>
            <a:ext cx="182880" cy="0"/>
          </a:xfrm>
          <a:prstGeom prst="line">
            <a:avLst/>
          </a:prstGeom>
          <a:noFill/>
          <a:ln w="31750">
            <a:solidFill>
              <a:srgbClr val="46647A"/>
            </a:solidFill>
            <a:prstDash val="solid"/>
            <a:headEnd type="triangle"/>
          </a:ln>
        </p:spPr>
      </p:sp>
      <p:sp>
        <p:nvSpPr>
          <p:cNvPr id="45" name="Text 43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 as Cortex - real demand, a share, the connecting feed, an uplift, a capacity check. The difference is HOW each step is set.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WHAT DIDN'T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assumption: established method vs rebuilt engine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480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method (analyst)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engine (Cortex)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demand figure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Sabre bookings pulled by hand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bookings, pulled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airport a town 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rules of thumb by market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road driving times from global map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share the route wins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Flight-quality score (QSI)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Driving access + flight quality + airport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destination airport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Picked by hand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multi-airport city, only its own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feed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by hand, per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+ beyond from the network,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by airline / alliance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in the analyst's picks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Explicit: online / same-alliance / interline per leg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new-service uplift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Judgement, 1.1 to 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airline type, adjustable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chosen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market's own recent growth from the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it's right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26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hand, route by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Against every route that has actually launched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Tinted = now data-derived.   </a:t>
            </a:r>
            <a:pPr indent="0" marL="0">
              <a:buNone/>
            </a:pPr>
            <a:r>
              <a:rPr lang="en-US" sz="10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measured-demand backbone is unchanged. The engine is unbiased against actual launched routes; the connecting feed and a country coverage correction are what make it defensible worldwide.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ideas behind the engine, explained simply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7335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367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driving times, not straight lines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27685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truly takes to drive to each airport, from global road-map data - a mountain or a slow road counts. A town is assigned to the airport its people can actually reach fastest.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67335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6367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airports pull from further away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27685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airport draws travellers from a wider area, more so for business routes where people chase frequency, less for holiday routes where the local airport wins.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409651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0599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connecting feed, both ways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70001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origin and beyond the destination. It's most of the number on a hub route, and it's the piece that was missing - without it we were forecasting only part of the traffic.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6A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09651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40599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flies it changes the answer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70001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into a hub scoops the connecting bank only if the airline or its alliance flies the onward legs. So the forecast is for a named carrier, and pitching the same route to a different airline gives a different, defensible number.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Avia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Avia Cortex - Route Forecasting: Process &amp; Methodology</dc:title>
  <dc:subject>PptxGenJS Presentation</dc:subject>
  <dc:creator>Avia Solutions</dc:creator>
  <cp:lastModifiedBy>Avia Solutions</cp:lastModifiedBy>
  <cp:revision>1</cp:revision>
  <dcterms:created xsi:type="dcterms:W3CDTF">2026-07-02T07:47:27Z</dcterms:created>
  <dcterms:modified xsi:type="dcterms:W3CDTF">2026-07-02T07:47:27Z</dcterms:modified>
</cp:coreProperties>
</file>