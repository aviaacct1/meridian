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Arial"/>
              </a:rPr>
              <a:t>Genoa-New York: A321XLR route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Turnaround economics, indicative. New entrant  A21X  LCC operation  sector 8.8h.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4023360" cy="1005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4000" b="1">
                <a:solidFill>
                  <a:srgbClr val="1F3864"/>
                </a:solidFill>
                <a:latin typeface="Arial"/>
              </a:rPr>
              <a:t>$23,929</a:t>
            </a:r>
          </a:p>
          <a:p>
            <a:pPr algn="l"/>
            <a:r>
              <a:rPr sz="1200">
                <a:solidFill>
                  <a:srgbClr val="595959"/>
                </a:solidFill>
                <a:latin typeface="Arial"/>
              </a:rPr>
              <a:t>PROFIT PER TURNAROUND (standalone)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97480"/>
            <a:ext cx="192024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4000" b="1">
                <a:solidFill>
                  <a:srgbClr val="1F3864"/>
                </a:solidFill>
                <a:latin typeface="Arial"/>
              </a:rPr>
              <a:t>15.9%</a:t>
            </a:r>
          </a:p>
          <a:p>
            <a:pPr algn="l"/>
            <a:r>
              <a:rPr sz="1200">
                <a:solidFill>
                  <a:srgbClr val="595959"/>
                </a:solidFill>
                <a:latin typeface="Arial"/>
              </a:rPr>
              <a:t>MARGIN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2697480"/>
            <a:ext cx="192024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4000" b="1">
                <a:solidFill>
                  <a:srgbClr val="1F3864"/>
                </a:solidFill>
                <a:latin typeface="Arial"/>
              </a:rPr>
              <a:t>61%</a:t>
            </a:r>
          </a:p>
          <a:p>
            <a:pPr algn="l"/>
            <a:r>
              <a:rPr sz="1200">
                <a:solidFill>
                  <a:srgbClr val="595959"/>
                </a:solidFill>
                <a:latin typeface="Arial"/>
              </a:rPr>
              <a:t>BREAKEVEN LF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840480"/>
            <a:ext cx="4023360" cy="1143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/>
            <a:r>
              <a:rPr sz="1300" b="1">
                <a:solidFill>
                  <a:srgbClr val="1F3864"/>
                </a:solidFill>
                <a:latin typeface="Arial"/>
              </a:rPr>
              <a:t>With airport incentive</a:t>
            </a:r>
          </a:p>
          <a:p>
            <a:r>
              <a:rPr sz="1500" b="1">
                <a:solidFill>
                  <a:srgbClr val="006100"/>
                </a:solidFill>
                <a:latin typeface="Arial"/>
              </a:rPr>
              <a:t>Profit $30,647   Margin 20.4%</a:t>
            </a:r>
          </a:p>
          <a:p>
            <a:r>
              <a:rPr sz="1100">
                <a:solidFill>
                  <a:srgbClr val="595959"/>
                </a:solidFill>
                <a:latin typeface="Arial"/>
              </a:rPr>
              <a:t>Airport contributes $6,718 per turn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892040" y="1600200"/>
          <a:ext cx="6812280" cy="420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2040"/>
                <a:gridCol w="1920240"/>
              </a:tblGrid>
              <a:tr h="4206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Turnaround P&amp;L (USD)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Per turn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206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150,158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864"/>
                          </a:solidFill>
                          <a:latin typeface="Arial"/>
                        </a:rPr>
                        <a:t>Fuel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3864"/>
                          </a:solidFill>
                          <a:latin typeface="Arial"/>
                        </a:rPr>
                        <a:t>30,600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864"/>
                          </a:solidFill>
                          <a:latin typeface="Arial"/>
                        </a:rPr>
                        <a:t>Maintenance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3864"/>
                          </a:solidFill>
                          <a:latin typeface="Arial"/>
                        </a:rPr>
                        <a:t>14,740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864"/>
                          </a:solidFill>
                          <a:latin typeface="Arial"/>
                        </a:rPr>
                        <a:t>Other variable (catering, charges, nav, handling)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3864"/>
                          </a:solidFill>
                          <a:latin typeface="Arial"/>
                        </a:rPr>
                        <a:t>26,527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864"/>
                          </a:solidFill>
                          <a:latin typeface="Arial"/>
                        </a:rPr>
                        <a:t>Ownership (cost of capital)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3864"/>
                          </a:solidFill>
                          <a:latin typeface="Arial"/>
                        </a:rPr>
                        <a:t>16,881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864"/>
                          </a:solidFill>
                          <a:latin typeface="Arial"/>
                        </a:rPr>
                        <a:t>Crew &amp; insurance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3864"/>
                          </a:solidFill>
                          <a:latin typeface="Arial"/>
                        </a:rPr>
                        <a:t>23,757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864"/>
                          </a:solidFill>
                          <a:latin typeface="Arial"/>
                        </a:rPr>
                        <a:t>Overheads (admin &amp; sales)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3864"/>
                          </a:solidFill>
                          <a:latin typeface="Arial"/>
                        </a:rPr>
                        <a:t>13,724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Total 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F3864"/>
                          </a:solidFill>
                          <a:latin typeface="Arial"/>
                        </a:rPr>
                        <a:t>126,229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6100"/>
                          </a:solidFill>
                          <a:latin typeface="Arial"/>
                        </a:rPr>
                        <a:t>Profit per turnaround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6100"/>
                          </a:solidFill>
                          <a:latin typeface="Arial"/>
                        </a:rPr>
                        <a:t>23,929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06440"/>
            <a:ext cx="112014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Maintenance: Airbus MR 2024-25 sector-aware: 657 $/FH heavy resv @ 8.8h / 78% share = 842 $/FH total.  Ownership: appraiser lease/value, LCC util 5,425 BH/yr @ 9.0h sector, age 2, 53% leased = 938 $/BH.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55080"/>
            <a:ext cx="1120140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Indicative, for directional guidance only. Built on generic published assumptions, not any airline's actual LOPA, MTOW, contract terms or internal P&amp;L. Actual results will differ.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Genoa-New York: A321XLR route economics</dc:title>
  <dc:subject/>
  <dc:creator>Avia Solutions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