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Genoa - New York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Arial"/>
              </a:rPr>
              <a:t>A321XLR route assessment: catchment, demand and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Avia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943600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1">
                <a:solidFill>
                  <a:srgbClr val="D6E4F0"/>
                </a:solidFill>
                <a:latin typeface="Arial"/>
              </a:rPr>
              <a:t>Indicative, directional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Arial"/>
              </a:rPr>
              <a:t>Catchment and demand: New York from Genoa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Genoa's New York travellers leak to Milan today; a Genoa nonstop repatriates its own catchment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1F3864"/>
                </a:solidFill>
                <a:latin typeface="Arial"/>
              </a:rPr>
              <a:t>19.5m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catchment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1F3864"/>
                </a:solidFill>
                <a:latin typeface="Arial"/>
              </a:rPr>
              <a:t>553,325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New York O&amp;D today (per year)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1F3864"/>
                </a:solidFill>
                <a:latin typeface="Arial"/>
              </a:rPr>
              <a:t>85,506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home catchment leaking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006100"/>
                </a:solidFill>
                <a:latin typeface="Arial"/>
              </a:rPr>
              <a:t>55,579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repatriable by a nonstop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Arial"/>
              </a:rPr>
              <a:t>Where the region's New York demand departs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Milan MXP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547872"/>
            <a:ext cx="2866641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6921" y="3520440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41064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Milan Linate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968496"/>
            <a:ext cx="364667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4947" y="3941064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61688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Bologna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4389120"/>
            <a:ext cx="291104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1384" y="4361688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82312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Turin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809744"/>
            <a:ext cx="82470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2750" y="4782312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02936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Genoa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5230368"/>
            <a:ext cx="46512" cy="237744"/>
          </a:xfrm>
          <a:prstGeom prst="rect">
            <a:avLst/>
          </a:prstGeom>
          <a:solidFill>
            <a:srgbClr val="006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792" y="5202936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Bergamo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650992"/>
            <a:ext cx="36576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76856" y="5623560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383280"/>
            <a:ext cx="4846320" cy="26974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520440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Arial"/>
              </a:rPr>
              <a:t>A Genoa nonstop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977639"/>
            <a:ext cx="448056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Genoa's New York catchment: 92,542 / year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Carried by Genoa today: 7,036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Leaking to Milan: 85,506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Repatriated at 65% capture: 55,579 each way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Directional demand with a nonstop: 62,615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Fills a 7x/week A321XLR at 85% load (~6,304 spilled)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Source: GeoNames population, OSRM road times, Sabre point-of-origin O&amp;D; catchment calibrated to the observed airport split.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Arial"/>
              </a:rPr>
              <a:t>Route economics: A321XLR, GOA - New York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7x/week, one-way economy fare $345, planned load factor 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006100"/>
                </a:solidFill>
                <a:latin typeface="Arial"/>
              </a:rPr>
              <a:t>$15,170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operating profit per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006100"/>
                </a:solidFill>
                <a:latin typeface="Arial"/>
              </a:rPr>
              <a:t>10.7%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operating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1F3864"/>
                </a:solidFill>
                <a:latin typeface="Arial"/>
              </a:rPr>
              <a:t>74%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breakeven load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300" b="1">
                <a:solidFill>
                  <a:srgbClr val="006100"/>
                </a:solidFill>
                <a:latin typeface="Arial"/>
              </a:rPr>
              <a:t>$5,521,979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annual profit (7x/week)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Arial"/>
              </a:rPr>
              <a:t>Per rotation (return)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56432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56432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456432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$142,114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35324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35324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Fuel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735324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$-30,600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6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14216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014216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$-14,740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3108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93108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Crew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293108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$-21,600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Ownership &amp; insurance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572000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$-19,037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0892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50892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Airport charges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850892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$-26,234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29784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29784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En-route (nav)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129784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$-1,135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08676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408676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Catering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408676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$-819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87568"/>
            <a:ext cx="5120640" cy="3657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87568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Arial"/>
              </a:rPr>
              <a:t>Overhead &amp; sales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5687568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0" i="0">
                <a:solidFill>
                  <a:srgbClr val="1F3864"/>
                </a:solidFill>
                <a:latin typeface="Arial"/>
              </a:rPr>
              <a:t>$-12,777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66460"/>
            <a:ext cx="512064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966460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Operating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5966460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  <a:latin typeface="Arial"/>
              </a:rPr>
              <a:t>$15,170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0175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Arial"/>
              </a:rPr>
              <a:t>Assumptions and basis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456432"/>
            <a:ext cx="54864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Aircraft: A321XLR, GOA-New York 3,500 nm, 7x/week</a:t>
            </a:r>
          </a:p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Fare: $345 one-way economy (Sabre)</a:t>
            </a:r>
          </a:p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Load factor: 85% planned; CASK $5.4c/seat-km</a:t>
            </a:r>
          </a:p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Maintenance: Airbus MR 2024-25 sector-aware: 657 $/FH heavy resv @ 8.8h / 78% share = 842 $/FH total</a:t>
            </a:r>
          </a:p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Ownership: appraiser lease/value, LCC util 5,425 BH/yr @ 9.0h sector, age 2, 53% leased = 938 $/BH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074920"/>
            <a:ext cx="2651760" cy="10515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148072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Realistic premium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486400"/>
            <a:ext cx="2286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006100"/>
                </a:solidFill>
                <a:latin typeface="Arial"/>
              </a:rPr>
              <a:t>10.7% margin</a:t>
            </a:r>
          </a:p>
          <a:p>
            <a:pPr algn="l"/>
            <a:r>
              <a:rPr sz="1350" b="1" i="0">
                <a:solidFill>
                  <a:srgbClr val="006100"/>
                </a:solidFill>
                <a:latin typeface="Arial"/>
              </a:rPr>
              <a:t>$5,521,979 / 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5074920"/>
            <a:ext cx="2651760" cy="10515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5148072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Full business cabin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486400"/>
            <a:ext cx="2286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1F3864"/>
                </a:solidFill>
                <a:latin typeface="Arial"/>
              </a:rPr>
              <a:t>19.9% margin</a:t>
            </a:r>
          </a:p>
          <a:p>
            <a:pPr algn="l"/>
            <a:r>
              <a:rPr sz="1350" b="1" i="0">
                <a:solidFill>
                  <a:srgbClr val="1F3864"/>
                </a:solidFill>
                <a:latin typeface="Arial"/>
              </a:rPr>
              <a:t>$11,648,099 /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Indicative, for directional guidance only. Built on generic published assumptions, not any airline's actual LOPA, MTOW, contract terms or internal P&amp;L. Actual results will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 - New York</dc:title>
  <dc:subject/>
  <dc:creator>Avia Solutions</dc:creator>
  <cp:keywords/>
  <dc:description>generated using python-pptx</dc:description>
  <cp:lastModifiedBy>Avia Solutions</cp:lastModifiedBy>
  <cp:revision>1</cp:revision>
  <dcterms:created xsi:type="dcterms:W3CDTF">2013-01-27T09:14:16Z</dcterms:created>
  <dcterms:modified xsi:type="dcterms:W3CDTF">2013-01-27T09:15:58Z</dcterms:modified>
  <cp:category/>
</cp:coreProperties>
</file>