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Arial"/>
              </a:rPr>
              <a:t>Genoa base: summer NYC network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Arial"/>
              </a:rPr>
              <a:t>Annual network P&amp;L, indicative. One A321XLR LCC, three NYC routes, 30-week summer.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4023360" cy="10058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4000" b="1">
                <a:solidFill>
                  <a:srgbClr val="1F3864"/>
                </a:solidFill>
                <a:latin typeface="Arial"/>
              </a:rPr>
              <a:t>$6.76m</a:t>
            </a:r>
          </a:p>
          <a:p>
            <a:pPr algn="l"/>
            <a:r>
              <a:rPr sz="1200">
                <a:solidFill>
                  <a:srgbClr val="595959"/>
                </a:solidFill>
                <a:latin typeface="Arial"/>
              </a:rPr>
              <a:t>ANNUAL NETWORK PROFIT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88920"/>
            <a:ext cx="1920240" cy="9144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4000" b="1">
                <a:solidFill>
                  <a:srgbClr val="1F3864"/>
                </a:solidFill>
                <a:latin typeface="Arial"/>
              </a:rPr>
              <a:t>16.7%</a:t>
            </a:r>
          </a:p>
          <a:p>
            <a:pPr algn="l"/>
            <a:r>
              <a:rPr sz="1200">
                <a:solidFill>
                  <a:srgbClr val="595959"/>
                </a:solidFill>
                <a:latin typeface="Arial"/>
              </a:rPr>
              <a:t>NETWORK MARGIN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2788920"/>
            <a:ext cx="1920240" cy="9144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4000" b="1">
                <a:solidFill>
                  <a:srgbClr val="1F3864"/>
                </a:solidFill>
                <a:latin typeface="Arial"/>
              </a:rPr>
              <a:t>1</a:t>
            </a:r>
          </a:p>
          <a:p>
            <a:pPr algn="l"/>
            <a:r>
              <a:rPr sz="1200">
                <a:solidFill>
                  <a:srgbClr val="595959"/>
                </a:solidFill>
                <a:latin typeface="Arial"/>
              </a:rPr>
              <a:t>AIRCRAFT (SHARED FLEET)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86200"/>
            <a:ext cx="4023360" cy="8229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Arial"/>
              </a:rPr>
              <a:t>0.90 frames of flying; one aircraft covers the base, with spare capacity across the network.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892040" y="1645920"/>
          <a:ext cx="6812280" cy="420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1554480"/>
                <a:gridCol w="1005840"/>
                <a:gridCol w="1005840"/>
              </a:tblGrid>
              <a:tr h="841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Route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Annual profit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Margin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Frames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8412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3864"/>
                          </a:solidFill>
                          <a:latin typeface="Arial"/>
                        </a:rPr>
                        <a:t>GOA-JFK  A321XLR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3864"/>
                          </a:solidFill>
                          <a:latin typeface="Arial"/>
                        </a:rPr>
                        <a:t>2,871,491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3864"/>
                          </a:solidFill>
                          <a:latin typeface="Arial"/>
                        </a:rPr>
                        <a:t>15.9%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3864"/>
                          </a:solidFill>
                          <a:latin typeface="Arial"/>
                        </a:rPr>
                        <a:t>0.40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412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3864"/>
                          </a:solidFill>
                          <a:latin typeface="Arial"/>
                        </a:rPr>
                        <a:t>GOA-EWR  A321XLR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3864"/>
                          </a:solidFill>
                          <a:latin typeface="Arial"/>
                        </a:rPr>
                        <a:t>2,211,544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3864"/>
                          </a:solidFill>
                          <a:latin typeface="Arial"/>
                        </a:rPr>
                        <a:t>16.4%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3864"/>
                          </a:solidFill>
                          <a:latin typeface="Arial"/>
                        </a:rPr>
                        <a:t>0.30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412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3864"/>
                          </a:solidFill>
                          <a:latin typeface="Arial"/>
                        </a:rPr>
                        <a:t>GOA-BOS  A321XLR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3864"/>
                          </a:solidFill>
                          <a:latin typeface="Arial"/>
                        </a:rPr>
                        <a:t>1,673,871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3864"/>
                          </a:solidFill>
                          <a:latin typeface="Arial"/>
                        </a:rPr>
                        <a:t>18.6%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3864"/>
                          </a:solidFill>
                          <a:latin typeface="Arial"/>
                        </a:rPr>
                        <a:t>0.20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41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Arial"/>
                        </a:rPr>
                        <a:t>Network total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6100"/>
                          </a:solidFill>
                          <a:latin typeface="Arial"/>
                        </a:rPr>
                        <a:t>6,756,907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F3864"/>
                          </a:solidFill>
                          <a:latin typeface="Arial"/>
                        </a:rPr>
                        <a:t>16.7%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F3864"/>
                          </a:solidFill>
                          <a:latin typeface="Arial"/>
                        </a:rPr>
                        <a:t>0.90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852160"/>
            <a:ext cx="1120140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Arial"/>
              </a:rPr>
              <a:t>Costs on the current-data stack: maintenance (Airbus reserves, sector), ownership (appraiser lease/value, sector and age), utilisation (Airbus, sector) and crew (by airline model).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355080"/>
            <a:ext cx="1120140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Arial"/>
              </a:rPr>
              <a:t>Indicative, for directional guidance only. Built on generic published assumptions, not any airline's actual LOPA, MTOW, contract terms or internal P&amp;L. Actual results will differ.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Avia Solutions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