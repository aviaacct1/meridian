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Arial"/>
              </a:rPr>
              <a:t>Genoa - New York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8328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0" i="0">
                <a:solidFill>
                  <a:srgbClr val="D6E4F0"/>
                </a:solidFill>
                <a:latin typeface="Arial"/>
              </a:rPr>
              <a:t>A321XLR route assessment: catchment, demand and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943600"/>
            <a:ext cx="5486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Avia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5943600"/>
            <a:ext cx="40233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 i="1">
                <a:solidFill>
                  <a:srgbClr val="D6E4F0"/>
                </a:solidFill>
                <a:latin typeface="Arial"/>
              </a:rPr>
              <a:t>Indicative, directional guidance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200" b="1" i="0">
                <a:solidFill>
                  <a:srgbClr val="1F3864"/>
                </a:solidFill>
                <a:latin typeface="Arial"/>
              </a:rPr>
              <a:t>Catchment and demand: New York from Genoa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Arial"/>
              </a:rPr>
              <a:t>Genoa's New York travellers leak to Milan today; a GOA nonstop repatriates its own catchment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2743200" cy="10972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3400" b="1">
                <a:solidFill>
                  <a:srgbClr val="1F3864"/>
                </a:solidFill>
                <a:latin typeface="Arial"/>
              </a:rPr>
              <a:t>19.5m</a:t>
            </a:r>
          </a:p>
          <a:p>
            <a:r>
              <a:rPr sz="1150">
                <a:solidFill>
                  <a:srgbClr val="595959"/>
                </a:solidFill>
                <a:latin typeface="Arial"/>
              </a:rPr>
              <a:t>catchment population (220 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783080"/>
            <a:ext cx="2743200" cy="10972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3400" b="1">
                <a:solidFill>
                  <a:srgbClr val="1F3864"/>
                </a:solidFill>
                <a:latin typeface="Arial"/>
              </a:rPr>
              <a:t>553,000</a:t>
            </a:r>
          </a:p>
          <a:p>
            <a:r>
              <a:rPr sz="1150">
                <a:solidFill>
                  <a:srgbClr val="595959"/>
                </a:solidFill>
                <a:latin typeface="Arial"/>
              </a:rPr>
              <a:t>New York O&amp;D today (per year)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83080"/>
            <a:ext cx="2743200" cy="10972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3400" b="1">
                <a:solidFill>
                  <a:srgbClr val="1F3864"/>
                </a:solidFill>
                <a:latin typeface="Arial"/>
              </a:rPr>
              <a:t>85,500</a:t>
            </a:r>
          </a:p>
          <a:p>
            <a:r>
              <a:rPr sz="1150">
                <a:solidFill>
                  <a:srgbClr val="595959"/>
                </a:solidFill>
                <a:latin typeface="Arial"/>
              </a:rPr>
              <a:t>GOA catchment leaking to Milan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1783080"/>
            <a:ext cx="2743200" cy="10972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3400" b="1">
                <a:solidFill>
                  <a:srgbClr val="006100"/>
                </a:solidFill>
                <a:latin typeface="Arial"/>
              </a:rPr>
              <a:t>55,600</a:t>
            </a:r>
          </a:p>
          <a:p>
            <a:r>
              <a:rPr sz="1150">
                <a:solidFill>
                  <a:srgbClr val="595959"/>
                </a:solidFill>
                <a:latin typeface="Arial"/>
              </a:rPr>
              <a:t>repatriable by a nonstop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5669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Arial"/>
              </a:rPr>
              <a:t>Where the region's New York demand departs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6459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  <a:latin typeface="Arial"/>
              </a:rPr>
              <a:t>Milan (MXP)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3547872"/>
            <a:ext cx="2867558" cy="237744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07838" y="3520440"/>
            <a:ext cx="914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Arial"/>
              </a:rPr>
              <a:t>78%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41064"/>
            <a:ext cx="16459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  <a:latin typeface="Arial"/>
              </a:rPr>
              <a:t>Milan Linate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3968496"/>
            <a:ext cx="365760" cy="237744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3941064"/>
            <a:ext cx="914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Arial"/>
              </a:rPr>
              <a:t>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61688"/>
            <a:ext cx="16459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  <a:latin typeface="Arial"/>
              </a:rPr>
              <a:t>Bologna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4389120"/>
            <a:ext cx="292608" cy="237744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32888" y="4361688"/>
            <a:ext cx="914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Arial"/>
              </a:rPr>
              <a:t>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82312"/>
            <a:ext cx="16459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  <a:latin typeface="Arial"/>
              </a:rPr>
              <a:t>Turin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4809744"/>
            <a:ext cx="84124" cy="237744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24404" y="4782312"/>
            <a:ext cx="914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Arial"/>
              </a:rPr>
              <a:t>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02936"/>
            <a:ext cx="16459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  <a:latin typeface="Arial"/>
              </a:rPr>
              <a:t>Genoa (GOA)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5230368"/>
            <a:ext cx="47548" cy="237744"/>
          </a:xfrm>
          <a:prstGeom prst="rect">
            <a:avLst/>
          </a:prstGeom>
          <a:solidFill>
            <a:srgbClr val="006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7828" y="5202936"/>
            <a:ext cx="914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Arial"/>
              </a:rPr>
              <a:t>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623560"/>
            <a:ext cx="16459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  <a:latin typeface="Arial"/>
              </a:rPr>
              <a:t>Bergamo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5650992"/>
            <a:ext cx="36576" cy="237744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76856" y="5623560"/>
            <a:ext cx="914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Arial"/>
              </a:rPr>
              <a:t>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3383280"/>
            <a:ext cx="4846320" cy="269748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3520440"/>
            <a:ext cx="4480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Arial"/>
              </a:rPr>
              <a:t>A Genoa nonstop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3977639"/>
            <a:ext cx="448056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0" i="0">
                <a:solidFill>
                  <a:srgbClr val="1F3864"/>
                </a:solidFill>
                <a:latin typeface="Arial"/>
              </a:rPr>
              <a:t>GOA's New York catchment: 92,500 / year</a:t>
            </a:r>
          </a:p>
          <a:p>
            <a:pPr algn="l"/>
            <a:r>
              <a:rPr sz="1350" b="0" i="0">
                <a:solidFill>
                  <a:srgbClr val="1F3864"/>
                </a:solidFill>
                <a:latin typeface="Arial"/>
              </a:rPr>
              <a:t>Carried by GOA today: 7,000  (1.3%)</a:t>
            </a:r>
          </a:p>
          <a:p>
            <a:pPr algn="l"/>
            <a:r>
              <a:rPr sz="1350" b="0" i="0">
                <a:solidFill>
                  <a:srgbClr val="1F3864"/>
                </a:solidFill>
                <a:latin typeface="Arial"/>
              </a:rPr>
              <a:t>Leaking to Milan: 85,500</a:t>
            </a:r>
          </a:p>
          <a:p>
            <a:pPr algn="l"/>
            <a:r>
              <a:rPr sz="1350" b="0" i="0">
                <a:solidFill>
                  <a:srgbClr val="1F3864"/>
                </a:solidFill>
                <a:latin typeface="Arial"/>
              </a:rPr>
              <a:t>Repatriated at 65% capture: 55,600 each way</a:t>
            </a:r>
          </a:p>
          <a:p>
            <a:pPr algn="l"/>
            <a:r>
              <a:rPr sz="1350" b="0" i="0">
                <a:solidFill>
                  <a:srgbClr val="1F3864"/>
                </a:solidFill>
                <a:latin typeface="Arial"/>
              </a:rPr>
              <a:t>Directional demand with a nonstop: 62,600</a:t>
            </a:r>
          </a:p>
          <a:p>
            <a:pPr algn="l"/>
            <a:r>
              <a:rPr sz="1350" b="0" i="0">
                <a:solidFill>
                  <a:srgbClr val="1F3864"/>
                </a:solidFill>
                <a:latin typeface="Arial"/>
              </a:rPr>
              <a:t>Fills a daily A321XLR at 85% load (≈6,300 spilled)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Arial"/>
              </a:rPr>
              <a:t>Source: GeoNames population, OSRM road times, Sabre point-of-origin O&amp;D; catchment calibrated to the observed airport split.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200" b="1" i="0">
                <a:solidFill>
                  <a:srgbClr val="1F3864"/>
                </a:solidFill>
                <a:latin typeface="Arial"/>
              </a:rPr>
              <a:t>Route economics: A321XLR, Genoa - New York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  <a:latin typeface="Arial"/>
              </a:rPr>
              <a:t>Daily service, one-way economy fare $345, planned load factor 85%; realistic premium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2743200" cy="10972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3400" b="1">
                <a:solidFill>
                  <a:srgbClr val="1F3864"/>
                </a:solidFill>
                <a:latin typeface="Arial"/>
              </a:rPr>
              <a:t>$15,200</a:t>
            </a:r>
          </a:p>
          <a:p>
            <a:r>
              <a:rPr sz="1150">
                <a:solidFill>
                  <a:srgbClr val="595959"/>
                </a:solidFill>
                <a:latin typeface="Arial"/>
              </a:rPr>
              <a:t>operating profit per rotation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783080"/>
            <a:ext cx="2743200" cy="10972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3400" b="1">
                <a:solidFill>
                  <a:srgbClr val="006100"/>
                </a:solidFill>
                <a:latin typeface="Arial"/>
              </a:rPr>
              <a:t>10.7%</a:t>
            </a:r>
          </a:p>
          <a:p>
            <a:r>
              <a:rPr sz="1150">
                <a:solidFill>
                  <a:srgbClr val="595959"/>
                </a:solidFill>
                <a:latin typeface="Arial"/>
              </a:rPr>
              <a:t>operating margin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83080"/>
            <a:ext cx="2743200" cy="10972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3400" b="1">
                <a:solidFill>
                  <a:srgbClr val="1F3864"/>
                </a:solidFill>
                <a:latin typeface="Arial"/>
              </a:rPr>
              <a:t>74%</a:t>
            </a:r>
          </a:p>
          <a:p>
            <a:r>
              <a:rPr sz="1150">
                <a:solidFill>
                  <a:srgbClr val="595959"/>
                </a:solidFill>
                <a:latin typeface="Arial"/>
              </a:rPr>
              <a:t>breakeven load factor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1783080"/>
            <a:ext cx="2743200" cy="10972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r>
              <a:rPr sz="3400" b="1">
                <a:solidFill>
                  <a:srgbClr val="006100"/>
                </a:solidFill>
                <a:latin typeface="Arial"/>
              </a:rPr>
              <a:t>$5.5m</a:t>
            </a:r>
          </a:p>
          <a:p>
            <a:r>
              <a:rPr sz="1150">
                <a:solidFill>
                  <a:srgbClr val="595959"/>
                </a:solidFill>
                <a:latin typeface="Arial"/>
              </a:rPr>
              <a:t>annual profit (daily)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5212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Arial"/>
              </a:rPr>
              <a:t>Per rotation (return)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20440"/>
            <a:ext cx="4937760" cy="41148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520440"/>
            <a:ext cx="32918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  <a:latin typeface="Arial"/>
              </a:rP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520440"/>
            <a:ext cx="15087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300" b="1" i="0">
                <a:solidFill>
                  <a:srgbClr val="1F3864"/>
                </a:solidFill>
                <a:latin typeface="Arial"/>
              </a:rPr>
              <a:t>$141,800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95928"/>
            <a:ext cx="4937760" cy="41148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995928"/>
            <a:ext cx="32918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  <a:latin typeface="Arial"/>
              </a:rPr>
              <a:t>Operating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995928"/>
            <a:ext cx="15087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300" b="1" i="0">
                <a:solidFill>
                  <a:srgbClr val="1F3864"/>
                </a:solidFill>
                <a:latin typeface="Arial"/>
              </a:rPr>
              <a:t>$126,600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71416"/>
            <a:ext cx="4937760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471416"/>
            <a:ext cx="32918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Operating profit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471416"/>
            <a:ext cx="15087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$15,200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946904"/>
            <a:ext cx="4937760" cy="41148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946904"/>
            <a:ext cx="32918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Margin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946904"/>
            <a:ext cx="15087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1300" b="1" i="0">
                <a:solidFill>
                  <a:srgbClr val="1F3864"/>
                </a:solidFill>
                <a:latin typeface="Arial"/>
              </a:rPr>
              <a:t>10.7%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063240"/>
            <a:ext cx="5577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Arial"/>
              </a:rPr>
              <a:t>Assumptions and sensitivity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520440"/>
            <a:ext cx="557784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  <a:latin typeface="Arial"/>
              </a:rPr>
              <a:t>Aircraft: A321XLR, GOA-JFK 3,500 nm, daily</a:t>
            </a:r>
          </a:p>
          <a:p>
            <a:pPr algn="l"/>
            <a:r>
              <a:rPr sz="1300" b="0" i="0">
                <a:solidFill>
                  <a:srgbClr val="1F3864"/>
                </a:solidFill>
                <a:latin typeface="Arial"/>
              </a:rPr>
              <a:t>Fare: $345 one-way economy (Sabre, round-trip halved)</a:t>
            </a:r>
          </a:p>
          <a:p>
            <a:pPr algn="l"/>
            <a:r>
              <a:rPr sz="1300" b="0" i="0">
                <a:solidFill>
                  <a:srgbClr val="1F3864"/>
                </a:solidFill>
                <a:latin typeface="Arial"/>
              </a:rPr>
              <a:t>Load factor: 85% planned (demand fills the aircraft)</a:t>
            </a:r>
          </a:p>
          <a:p>
            <a:pPr algn="l"/>
            <a:r>
              <a:rPr sz="1300" b="0" i="0">
                <a:solidFill>
                  <a:srgbClr val="1F3864"/>
                </a:solidFill>
                <a:latin typeface="Arial"/>
              </a:rPr>
              <a:t>Cabin mix: economy-led with modest premium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4983480"/>
            <a:ext cx="2697480" cy="114300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507492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Realistic premium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440680"/>
            <a:ext cx="23774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006100"/>
                </a:solidFill>
                <a:latin typeface="Arial"/>
              </a:rPr>
              <a:t>10.7% margin</a:t>
            </a:r>
          </a:p>
          <a:p>
            <a:pPr algn="l"/>
            <a:r>
              <a:rPr sz="1400" b="1" i="0">
                <a:solidFill>
                  <a:srgbClr val="006100"/>
                </a:solidFill>
                <a:latin typeface="Arial"/>
              </a:rPr>
              <a:t>$5.5m / year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400" y="4983480"/>
            <a:ext cx="2697480" cy="114300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507492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Full business cabin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5440680"/>
            <a:ext cx="23774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Arial"/>
              </a:rPr>
              <a:t>19.9% margin</a:t>
            </a:r>
          </a:p>
          <a:p>
            <a:pPr algn="l"/>
            <a:r>
              <a:rPr sz="1400" b="1" i="0">
                <a:solidFill>
                  <a:srgbClr val="1F3864"/>
                </a:solidFill>
                <a:latin typeface="Arial"/>
              </a:rPr>
              <a:t>$11.6m / year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Arial"/>
              </a:rPr>
              <a:t>Indicative, for directional guidance only. Built on generic published assumptions and Sabre/road-time data, not any airline's actual LOPA, contract terms or internal P&amp;L. Actual results will differ.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Genoa-New York route assessment</dc:title>
  <dc:subject/>
  <dc:creator>Avia Solutions</dc:creator>
  <cp:keywords/>
  <dc:description>generated using python-pptx</dc:description>
  <cp:lastModifiedBy>Avia Solutions</cp:lastModifiedBy>
  <cp:revision>1</cp:revision>
  <dcterms:created xsi:type="dcterms:W3CDTF">2013-01-27T09:14:16Z</dcterms:created>
  <dcterms:modified xsi:type="dcterms:W3CDTF">2013-01-27T09:15:58Z</dcterms:modified>
  <cp:category/>
</cp:coreProperties>
</file>