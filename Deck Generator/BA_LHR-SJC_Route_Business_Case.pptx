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demand</c:v>
                </c:pt>
              </c:strCache>
            </c:strRef>
          </c:tx>
          <c:spPr>
            <a:solidFill>
              <a:srgbClr val="3E6C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Paris</c:v>
                  </c:pt>
                  <c:pt idx="1">
                    <c:v>Frankfurt</c:v>
                  </c:pt>
                  <c:pt idx="2">
                    <c:v>Amsterdam</c:v>
                  </c:pt>
                  <c:pt idx="3">
                    <c:v>Munich</c:v>
                  </c:pt>
                  <c:pt idx="4">
                    <c:v>Tel Aviv</c:v>
                  </c:pt>
                  <c:pt idx="5">
                    <c:v>Zurich</c:v>
                  </c:pt>
                  <c:pt idx="6">
                    <c:v>Copenhagen</c:v>
                  </c:pt>
                  <c:pt idx="7">
                    <c:v>Rome</c:v>
                  </c:pt>
                  <c:pt idx="8">
                    <c:v>Stockholm</c:v>
                  </c:pt>
                  <c:pt idx="9">
                    <c:v>Madrid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140521</c:v>
                </c:pt>
                <c:pt idx="1">
                  <c:v>100810</c:v>
                </c:pt>
                <c:pt idx="2">
                  <c:v>60675</c:v>
                </c:pt>
                <c:pt idx="3">
                  <c:v>43810</c:v>
                </c:pt>
                <c:pt idx="4">
                  <c:v>45892</c:v>
                </c:pt>
                <c:pt idx="5">
                  <c:v>36924</c:v>
                </c:pt>
                <c:pt idx="6">
                  <c:v>32449</c:v>
                </c:pt>
                <c:pt idx="7">
                  <c:v>27549</c:v>
                </c:pt>
                <c:pt idx="8">
                  <c:v>25155</c:v>
                </c:pt>
                <c:pt idx="9">
                  <c:v>19730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Point-to-point</c:v>
                </c:pt>
              </c:strCache>
            </c:strRef>
          </c:tx>
          <c:spPr>
            <a:solidFill>
              <a:srgbClr val="1324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</c:v>
                </c:pt>
                <c:pt idx="1">
                  <c:v>87.1</c:v>
                </c:pt>
                <c:pt idx="2">
                  <c:v>89.6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Connecting at London</c:v>
                </c:pt>
              </c:strCache>
            </c:strRef>
          </c:tx>
          <c:spPr>
            <a:solidFill>
              <a:srgbClr val="3E6C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</c:v>
                </c:pt>
                <c:pt idx="1">
                  <c:v>27.4</c:v>
                </c:pt>
                <c:pt idx="2">
                  <c:v>28.2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Connecting at SJC</c:v>
                </c:pt>
              </c:strCache>
            </c:strRef>
          </c:tx>
          <c:spPr>
            <a:solidFill>
              <a:srgbClr val="2E8E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2.1</c:v>
                </c:pt>
                <c:pt idx="1">
                  <c:v>2.2</c:v>
                </c:pt>
                <c:pt idx="2">
                  <c:v>2.2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Cargo and ancillary</c:v>
                </c:pt>
              </c:strCache>
            </c:strRef>
          </c:tx>
          <c:spPr>
            <a:solidFill>
              <a:srgbClr val="C8A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8.3</c:v>
                </c:pt>
                <c:pt idx="1">
                  <c:v>8.7</c:v>
                </c:pt>
                <c:pt idx="2">
                  <c:v>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A8D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B7A8D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A8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   </a:t>
            </a:r>
            <a:pPr algn="l" indent="0" marL="0">
              <a:buNone/>
            </a:pPr>
            <a:r>
              <a:rPr lang="en-US" sz="11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/ Silicon Valley hero image (airport to supply)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unique opportunity to serve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Silicon Valley from London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 Y. Mineta San Jose International Airport   |   London Heathrow to San Jose   |   Daily Boeing 787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forecast and business case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Avia Solutions  |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Airport logo ]      [ Avia Solutions logo ]      [ British Airways logo 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011680" y="1737360"/>
            <a:ext cx="8229600" cy="2377440"/>
          </a:xfrm>
          <a:prstGeom prst="roundRect">
            <a:avLst>
              <a:gd name="adj" fmla="val 1923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28600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from the Mayor of San Jose or the Airport Director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(airport to supply the quotation and attribution)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San Jose, capital of Silicon Valley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554480" y="1645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Silicon Valley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2029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wealthiest, most innovative metro in the United States, and the global centre of the AI economy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genuine tech centres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9443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and Silicon Valley: a two-way corporate, tech and life-sciences corridor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474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Jose airport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8587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widebody-capable airport at the heart of the Valley, with the support to back a returning service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43891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47731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Catchment, point-to-point and connecting demand, revenue, and the case for net-new traffic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3035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54480" y="53035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and the case for now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5687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Avia QSI approach, and what has changed since 2023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for British Airways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Boeing 787 linking London Heathrow with the heart of Silicon Valley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249,800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market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two-way O&amp;D, London - San Jose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904,500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market over London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Beyond-hub demand the route can feed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3832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28432" y="1837944"/>
            <a:ext cx="305409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130,000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5237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forecast passengers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2843784"/>
            <a:ext cx="30175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 load factor on a daily 787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6766560" cy="2286000"/>
          </a:xfrm>
          <a:prstGeom prst="roundRect">
            <a:avLst>
              <a:gd name="adj" fmla="val 200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service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160520"/>
          <a:ext cx="6309360" cy="1645920"/>
        </p:xfrm>
        <a:graphic>
          <a:graphicData uri="http://schemas.openxmlformats.org/drawingml/2006/table">
            <a:tbl>
              <a:tblPr/>
              <a:tblGrid>
                <a:gridCol w="219456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(7x weekly)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787, circa 214 seats, four cabins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155,792 two-way seats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share of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43%, supporting a high-yield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80960" y="361188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7772400" y="3611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map of connecting flows, or San Jose skyline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forecast model (validated reference case), to be refreshed on the live 2024-2025 base. Figures illustrative pending live run.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Silicon Valley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/ Silicon Valley panorama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wealthiest, most innovative metro in the 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catchment built for a high-yield London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$175,491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the 50 largest US metros (2024)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$171,660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any US metro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city for patents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200,778 granted, 2020-2024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2240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71432" y="1837944"/>
            <a:ext cx="191109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499970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US venture capital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89720" y="2810866"/>
            <a:ext cx="18745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metro, 2025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- Sunnyvale - Santa Clara is the richest major metro in the country, roughly double the national median household income, and the densest pool of premium and business-class demand in the US.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 Jose - San Francisco cluster has ranked first in the world for innovation for six consecutive years (WIPO Global Innovation Index 2025), leading on both patents and venture deals per head.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 holds the most concentrated set of global technology headquarters anywhere, led by Apple, Alphabet and NVIDIA.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Census Bureau ACS 2024 (Sept 2025); BEA-derived metro GDP; CommercialCafe / USPTO (patents); PitchBook-NVCA Venture Monitor (Jan 2026); WIPO GII 2025.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SILICON VALLEY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capital: what has changed since BA last looked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shift in the market since the route last flew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$126bn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funding to the Bay Area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the world total,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Bay Area startup capital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into AI in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$100bn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commitment to OpenAI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announced 22 September 2025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 is now the undisputed global centre of the AI industry. AI start-ups raised $211bn worldwide in 2025, and the Bay Area captured the majority of it.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fast-scaling, capital-rich, internationally connected firms that generate premium long-haul demand, and many are building their largest non-US bases in London.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 withdrew in 2023, this economy did not exist at today's scale. It is the strongest current reason a premium London service works.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3611880"/>
            <a:ext cx="3566160" cy="1920240"/>
          </a:xfrm>
          <a:prstGeom prst="roundRect">
            <a:avLst>
              <a:gd name="adj" fmla="val 2381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36118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campus, Santa Clara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Crunchbase / HumanX AI Funding Report (Feb 2026); NVIDIA Newsroom (Sept 2025); PitchBook-NVCA.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SILICON VALLEY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headquarters are on the airport's doorstep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is inside the cluster, not adjacent to it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SJC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Clara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4 miles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(Apple Park)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Cupertino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9 miles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/ Alphabet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Mountain 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12 miles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Adobe, eBay, PayPal, Cisco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Jose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Menlo 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18 miles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34840"/>
            <a:ext cx="5760720" cy="11430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5262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sits circa 10 miles from the centre of Silicon Valley.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 is circa 29 miles away, so SJC is roughly 19 miles closer to the densest tech cluster on earth.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1737360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766560" y="173736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buildings, San Jose / Mountain View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006840" y="1737360"/>
            <a:ext cx="2240280" cy="1828800"/>
          </a:xfrm>
          <a:prstGeom prst="roundRect">
            <a:avLst>
              <a:gd name="adj" fmla="val 2500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9098280" y="173736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Park, Cupertino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3657600"/>
            <a:ext cx="4572000" cy="1371600"/>
          </a:xfrm>
          <a:prstGeom prst="roundRect">
            <a:avLst>
              <a:gd name="adj" fmla="val 3333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766560" y="36576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HQ, Santa Clara (airport-supplied)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Company sites; Santa Clara County; Rome2Rio / Visit San Jose proximity data (2026).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SILICON VALLEY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premium, India-connected catchment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visiting-friends-and-relatives and one-stop India demand over London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209,006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Indian residents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metro, circa 10.5% of the population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county for Indian immigrants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Clara County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73%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Bay Area H-1B workers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Indian-born, a dense, high-yield base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holds one of the densest Indian-American concentrations of any US metro. The group is high-income and degree-educated, a premium-cabin profile.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both visiting-friends-and-relatives travel and one-stop India connectivity over London Heathrow, feeding Delhi, Mumbai, Bengaluru and Hyderabad on BA and its partners.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demand is deliberately excluded from the base forecast to keep it conservative, so it sits as upside rather than as a headline number.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 Census Bureau ACS 2024 (B02018, B05006); Migration Policy Institute (Jun 2026); Pew Research (2025); USCIS / NFAP H-1B data.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SILICON VALLEY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genuine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centres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skyline / King's Cross tech quarter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London end is a genuine peer, not a spoke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 firms are building their largest non-US bases in London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Europe for tech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globally (Dealroom 2026)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£150bn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US investment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UK-US State Visit, Sept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565,000 sq ft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space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by AI firms, early 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 technology investment into the UK at the September 2025 State Visit: Microsoft £22bn, NVIDIA £11bn, Google £5bn, Salesforce and CoreWeave each over £1bn.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has made London its largest research hub outside the United States; Anthropic has taken its first permanent London office. This is senior, two-way corporate traffic of exactly the kind a daily premium service targets.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raised circa £13.2bn of tech venture funding in 2025 and is home to 138 unicorns, the largest tech ecosystem in Europe.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Dealroom Global Tech Ecosystem Index 2026; gov.uk State Visit release (17 Sept 2025); CNBC (Jun 2026); techUK.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 CENTRES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sciences, and a tech corridor on Heathrow's doorstep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sits physically on the Heathrow side of London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6576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Triangle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- Oxford - Cambridge is the UK's largest life-sciences cluster, with circa 57% of national biopharma employment and a ranking of third in the world among life-science hubs.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Francis Crick Institute is the largest single biomedical laboratory under one roof in Europe.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capital is flowing in: Prologis committed circa £3.9bn including a major Cambridge Biomedical Campus expansion at the 2025 State Visit.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166360" cy="3657600"/>
          </a:xfrm>
          <a:prstGeom prst="roundRect">
            <a:avLst>
              <a:gd name="adj" fmla="val 1250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Thames Valley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M4 / Western Corridor west of Heathrow hosts a dense technology base: Microsoft, Oracle, Cisco, NVIDIA, SAP and Dell all have UK headquarters or major operations there.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Slough holds the largest data-centre concentration in Europe.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these firms located here for Heathrow access. Silicon Valley catchment demand therefore sits on the airport's doorstep, not only in central London.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DTRE / Lightcast / Savills (Golden Triangle, 2025); Francis Crick Institute; gov.uk (Prologis); RWA Consultants / Growth Business (Thames Valley).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 CENTRES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and travel underpin the corridor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densest services and digital trade relationship in the world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$340bn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US-UK trade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goods and services, 2024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£137bn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services exports to 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1188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financial and tech, 2024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837944"/>
            <a:ext cx="227685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20.59m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0" y="2499970"/>
            <a:ext cx="22402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US-UK air passengers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810866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US-Europe market, 2024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91640"/>
            <a:ext cx="22402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71432" y="1837944"/>
            <a:ext cx="191109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$1.7tn+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89720" y="2499970"/>
            <a:ext cx="187452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FDI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89720" y="2810866"/>
            <a:ext cx="18745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other's largest partner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heavily services-weighted, the strongest evidence that trade drives face-to-face business travel. California's largest export line to the UK is computers and electronics, that is Silicon Valley output.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is the largest US-Europe country market and London Heathrow is the top US foreign gateway. Bay Area demand for London is currently funnelled almost entirely through San Francisco.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is deep both ways: 5.6m US visitors to the UK and 4.04m UK visitors to the US in 2024, with California the second-largest US origin region for UK-bound trips.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USTR; ONS UK trade with the US 2024; BEA / ONS FDI 2024; US DOT international passenger statistics 2024; VisitBritain; US NTTO.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 CENTRES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Jose airport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terminal at dusk / airfield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widebody airport at the centre of the Valley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cluster, and more reliable than SFO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11.85m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in 2024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Valley's home airport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33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gates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terminals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arrivals facility, Global Entry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3246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62672" y="1837944"/>
            <a:ext cx="2916936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787-ready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680960" y="2499970"/>
            <a:ext cx="288036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widebody capability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0" y="2810866"/>
            <a:ext cx="28803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ZIPAIR 787 to Tokyo operates today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has handled 787, A340 and larger widebodies, and BA previously planned to upsize the route to a 747-400. A daily 787 is well within the airport's capability.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reliability advantage over SFO: SFO's two main landing runways are too close for side-by-side landings in low visibility and it loses half its arrival rate in fog. The same weather causes no delay at SJC.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 service would be the only Europe nonstop at the airport.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3611880"/>
            <a:ext cx="3566160" cy="1920240"/>
          </a:xfrm>
          <a:prstGeom prst="roundRect">
            <a:avLst>
              <a:gd name="adj" fmla="val 2381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361188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terminal interior / 787 at gate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SJC Monthly Activity Report (CY2024, Jan 2025); Cranky Flier (May 2026); KQED / Cranky Flier (SFO runway geometry). 2025 figure to be confirmed from the CY2025 report.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AIRPORT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Airport support behind a returning service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de-risked launch, backed by the airport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383280"/>
          </a:xfrm>
          <a:prstGeom prst="roundRect">
            <a:avLst>
              <a:gd name="adj" fmla="val 1351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airport brings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runs an Air Service Development programme designed to encourage incremental airline route decisions, with a named air-service team.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precedent of commitment: when BA exited in 2023, San Jose offered a $303,700 credit toward a future contract if the airline resumed within two years.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airport is actively talking to partners about expanding international service, and a London link is its clearest gap.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support and incentive terms to be confirmed directly with the airport for the live tariff.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45552" y="1929384"/>
            <a:ext cx="323697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$303,700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63840" y="26151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resumption credit offered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2935224"/>
            <a:ext cx="32004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the airport's commitment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0" y="356616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356616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/ air service team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SJC Air Service Development (flysanjose.com); Simple Flying (1 Mar 2025).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AIRPORT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0" y="1280160"/>
            <a:ext cx="3749040" cy="4297680"/>
          </a:xfrm>
          <a:prstGeom prst="roundRect">
            <a:avLst>
              <a:gd name="adj" fmla="val 1220"/>
            </a:avLst>
          </a:prstGeom>
          <a:solidFill>
            <a:srgbClr val="1E3A5F"/>
          </a:solidFill>
          <a:ln w="12700">
            <a:solidFill>
              <a:srgbClr val="C8A45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863840" y="128016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map / route visual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San Jose catchment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San Jose is the natural airport, and where it competes with SFO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13243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is the most convenient airport on surface access. The core of the demand.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3E6CA6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3128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53128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south and east. Passengers would drive past SJC to reach San Francisco today, and would switch given a nonstop.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783080"/>
            <a:ext cx="33832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2E8E9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E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Contested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65008" y="2514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north-west, with roughly equal drive time to SJC and SFO. Shared with San Francisco.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31520" y="4114800"/>
            <a:ext cx="10698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map: primary / secondary / contested drive-time bands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catchment model (drive-time and surface-access analysis).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traffic flows from the catchment, beyond London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two-way demand from the San Jose service area to points over Heathrow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connecting-demand model (Sabre O&amp;D). Validated reference case, to be refreshed on the live 2024-2025 base.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forecast: daily service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demand by segment, with BA capture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920240"/>
                <a:gridCol w="164592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stimulation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capture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business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leisure / VFR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business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leisure / VFR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Point-to-point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293,900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at London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991,300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at San Jose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1,206,800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Total, 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130,346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load factor 83.7% on 155,792 annual seats. India connecting demand excluded to stay conservative.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forecast model (validated reference case), to be refreshed on the live 2024-2025 base.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Passengers connecting at London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markets beyond Heathrow, with BA forecast share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9144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 Town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Frankfurt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Dusseldorf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9144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Stockholm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Helsinki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19,567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Berlin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EAEEF2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526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connecting market over London: 991,300 passengers a year. 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forecast share 4.5%, circa 45,000 passengers, the equivalent of 62 a day each way.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connecting-demand model. Validated reference case, to be refreshed on the live 2024-2025 base.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Passengers connecting at San Jose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Onward demand beyond SJC across the western US and Mexico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demand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forecast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Kahului (Maui)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162,580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794,266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 Lake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Phoenix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39,449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Guadalajara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over San Jose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1,206,800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3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393192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Behind-San-Jose demand is thin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is largely an origin and destination market, not a connecting hub, so onward connections add a modest layer.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exception is Hawaii leisure traffic, where BA can take a meaningful share.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forecast anchored on the strong point-to-point and over-London demand.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connecting-demand model. Validated reference case, to be refreshed on the live 2024-2025 base.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forecast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maturing into a high load factor over three years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62672" y="1837944"/>
            <a:ext cx="34198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$121.7m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809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revenue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98080" y="2971800"/>
            <a:ext cx="37490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62672" y="3118104"/>
            <a:ext cx="34198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E6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83.7% to 88.6%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6809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factor, Years 1 to 3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98080" y="4251960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62672" y="4398264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$129.2m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80960" y="4822546"/>
            <a:ext cx="338328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total revenue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Avia QSI revenue model (validated reference case). Years relabelled from the 2016-2018 reference; to be refreshed on the live base.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Stimulation, not cannibalisation of San Francisco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South Bay catchment, plus genuine new demand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Jose anchors the southern Bay Area and is on average circa 40km closer to Silicon Valley headquarters than San Francisco. A BA service taps a distinct catchment rather than poaching SFO.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work on first-time-served markets shows a new nonstop both diverts some connecting demand and stimulates genuinely new point-to-point traffic.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is deliberately conservative: India connecting demand and US point-of-sale upsides are excluded from the base, and the contested catchment is captured at low rates.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net-new traffic for the airline, not a transfer from its existing London - San Francisco service.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2672" y="1929384"/>
            <a:ext cx="3419856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circa 40km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680960" y="26151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HQs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0" y="2935224"/>
            <a:ext cx="33832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SJC versus SFO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0" y="3566160"/>
            <a:ext cx="374904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C8A4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4069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demand, US point of sale and SFO interaction all sit as upside to the base case.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Journal of Air Transport Management vol. 98 (2022); Avia Solutions catchment analysis.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Precedent: ANA linked Silicon Valley to Tokyo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premium, catchment-anchored long-haul route from San Jose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launched San Jose to Tokyo in January 2013, the first ever nonstop between Silicon Valley and Japan, on a Boeing 787.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configured for high-value corporate demand, with a heavy business-class cabin aimed at the Valley's Japanese technology operations.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created a new, catchment-anchored market built on San Jose's proximity to the Valley's headquarters, the same logic that supports a London service.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 London service would re-establish the airport's transatlantic link on exactly that premium, corporate basis.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3200400"/>
          </a:xfrm>
          <a:prstGeom prst="roundRect">
            <a:avLst>
              <a:gd name="adj" fmla="val 1429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589520" y="1783080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787 at San Jose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ANA; Simple Flying (2024). Market-growth versus SFO to be evidenced from US DOT T-100 Bay Area to Japan O&amp;D.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Avia QSI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quality drives an airline's share of demand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500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Drive-time and surface-access analysis sets the share of the broad market that San Jose can serve, split into primary, secondary and contested.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Point-to-point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35000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O&amp;D booking data sizes the London - San Jose market, grown to the service year and stimulated for the new nonstop.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1732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1330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of Service Index scores every competing itinerary over the hub, and allocates demand to BA by relative service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economics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1330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passengers by cabin, priced at market fares, give revenue, with cargo and ancillary added.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Sabre O&amp;D demand and OAG published schedules. The method is calibrated against Avia's library of route forecasts.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flew this route before; the market that failed it has changed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474720"/>
          </a:xfrm>
          <a:prstGeom prst="roundRect">
            <a:avLst>
              <a:gd name="adj" fmla="val 1316"/>
            </a:avLst>
          </a:prstGeom>
          <a:solidFill>
            <a:srgbClr val="F4F6F8"/>
          </a:solidFill>
          <a:ln w="12700">
            <a:solidFill>
              <a:srgbClr val="EAEE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history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served London - San Jose from 2016 to 2020, and again from 2022 to 2023.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withdrew in October 2023 on route economics and 787 fleet availability, not the pandemic.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relaunch case must say what is different now, rather than ignore the exit.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166360" cy="3474720"/>
          </a:xfrm>
          <a:prstGeom prst="roundRect">
            <a:avLst>
              <a:gd name="adj" fmla="val 1316"/>
            </a:avLst>
          </a:prstGeom>
          <a:solidFill>
            <a:srgbClr val="13243B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changed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economy. </a:t>
            </a:r>
            <a:pPr indent="0" marL="0">
              <a:buNone/>
            </a:pPr>
            <a:r>
              <a:rPr lang="en-US" sz="115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 Area took 60% of global AI funding in 2025; this demand did not exist at scale in 2023.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3200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investment. </a:t>
            </a:r>
            <a:pPr indent="0" marL="0">
              <a:buNone/>
            </a:pPr>
            <a:r>
              <a:rPr lang="en-US" sz="115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£150bn of US tech investment into the UK, with Bay Area firms building their largest London bases.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4023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support and a conservative forecast. </a:t>
            </a:r>
            <a:pPr indent="0" marL="0">
              <a:buNone/>
            </a:pPr>
            <a:r>
              <a:rPr lang="en-US" sz="1150" dirty="0">
                <a:solidFill>
                  <a:srgbClr val="D9E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airport backing, with India and point-of-sale upside excluded from the base.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6144768"/>
            <a:ext cx="109115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Simple Flying (route history); Crunchbase / HumanX (AI funding); gov.uk State Visit (Sept 2025).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NOW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invitation to see Silicon Valley first hand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familiarisation visit to San Jose and Silicon Valley, hosted by the airport and its corporate partners.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with the major technology employers in the catchment to confirm corporate travel commitments.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on schedule, aircraft and incentive terms with the airport's air-service team.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3749040" cy="3017520"/>
          </a:xfrm>
          <a:prstGeom prst="roundRect">
            <a:avLst>
              <a:gd name="adj" fmla="val 1515"/>
            </a:avLst>
          </a:prstGeom>
          <a:solidFill>
            <a:srgbClr val="EAEEF2"/>
          </a:solidFill>
          <a:ln w="12700">
            <a:solidFill>
              <a:srgbClr val="6B7A8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589520" y="17830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SLOT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Levi's Stadium / Silicon Valley landmarks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to supply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with the airport and its partners.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pPr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British Airways  |  London Heathrow - San Jose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85455" y="6473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Re-establishing the link between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 and Silicon Valley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wealthiest, most innovative and most AI-intensive metro in the world has no direct daily service to London. The market is premium, structurally connected to the City, and underserved.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Solutions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development and air service consultancy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john.carter@aviasolutions.com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Avia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Heathrow to San Jose - Route Business Case</dc:title>
  <dc:subject>British Airways LHR-SJC route forecast and business case</dc:subject>
  <dc:creator>Avia Solutions</dc:creator>
  <cp:lastModifiedBy>Avia Solutions</cp:lastModifiedBy>
  <cp:revision>1</cp:revision>
  <dcterms:created xsi:type="dcterms:W3CDTF">2026-06-28T18:12:06Z</dcterms:created>
  <dcterms:modified xsi:type="dcterms:W3CDTF">2026-06-28T18:12:06Z</dcterms:modified>
</cp:coreProperties>
</file>