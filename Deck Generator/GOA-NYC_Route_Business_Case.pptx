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   </a:t>
            </a:r>
            <a:pPr indent="0" marL="0">
              <a:buNone/>
            </a:pPr>
            <a:r>
              <a:rPr lang="en-US" sz="1100" i="1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/ Italian Riviera hero image (airport to supply)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Genoa to New York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transatlantic opportunity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 di Genova Cristoforo Colombo   |   Genoa - New York   |   Airbus A321XLR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forecast and business case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Avia Solutions  |  June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Airport logo ]      [ Avia Solutions logo ]      [ Airline logo 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1828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New York from Genoa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54480" y="2212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Italian-American market on earth, a record tourism region, and a major cruise homeport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2971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3355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Liguria catchment, the leakage to Milan, and the demand a Genoa nonstop recaptures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4114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and the precedent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4498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A321XLR, United's secondary-city template, seasonality, and Genoa airport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York nonstop for Liguria, on a long-range narrowbody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305409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553,300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523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O&amp;D market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43784"/>
            <a:ext cx="3017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demand from the Genoa catchment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6552" y="1837944"/>
            <a:ext cx="305409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92,500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4840" y="2523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for a nonstop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34840" y="2843784"/>
            <a:ext cx="3017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 Genoa service can serve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63840" y="169164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28432" y="1837944"/>
            <a:ext cx="305409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46720" y="2523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at Genoa today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2843784"/>
            <a:ext cx="3017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leaks to Milan and Rome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6766560" cy="2286000"/>
          </a:xfrm>
          <a:prstGeom prst="roundRect">
            <a:avLst>
              <a:gd name="adj" fmla="val 2000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service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160520"/>
          <a:ext cx="6309360" cy="164592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Airbus A321XLR, circa 182 seats (162 economy, 20 business)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Genoa - New York circa 3,750nm, well inside the type's 4,700nm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operator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Newark-hubbed XLR carrier (United fits the pattern)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Leisure and visiting-friends led, with a business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680960" y="361188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7772400" y="36118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Genoa - New York great circle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catchment and demand model (Sabre O&amp;D), to be refreshed on the live base. Figures illustrative.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New York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Genoa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0" y="128016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old port / Italian Riviera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largest Italian-American market on earth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deep, year-round visiting-friends-and-relatives 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2.6m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Italians in NY metro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of any US metro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6.3m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 northeast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all US Italian-Americans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arrivals to Italy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from New York airports alone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York region holds the densest Italian-American population anywhere outside Italy. The wider northeast (New York, New Jersey, Connecticut, Massachusetts, Pennsylvania, Rhode Island) accounts for circa 39% of all US Italian-Americans.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resilient, year-round visiting-friends-and-relatives base that is less seasonal and less price-sensitive than pure leisure, and it anchors a US-Italy route at New York specifically.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carries a direct cultural hook: the city is the birthplace of Christopher Columbus, the airport's namesake and the figure at the centre of New York's Italian-American identity.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US Census Bureau ACS 2024 (B04006); ENIT / ForwardKeys (Mar 2026). NY metro figure circa 2021 base, to refresh from data.census.gov.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NEW YORK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record, growing tourism region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Liguria and the Italian Riviera, led by foreign demand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Liguria arrivals, 2024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all-time record, foreign-led growth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UNESCO site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Terre, circa one hour from Genoa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in Travel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Genoa, Lonely Planet 2025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Italian city named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Liguria set a tourism record in 2024, with all the growth coming from foreign visitors. Genoa city arrivals reached 4.6m, with foreign arrivals up 5.5%.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 packs world-class draws within an hour of the airport: the Cinque Terre, Portofino, the Riviera and a UNESCO-listed historic centre.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Genoa's selection as Lonely Planet's only Italian Best in Travel city for 2025 gives the destination fresh, marketable visibility in the US.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Regione Liguria Tourism Observatory (Feb 2025); Citta della Spezia (Apr 2026); Lonely Planet Best in Travel 2025.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NEW YORK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premium US to Italy leisure market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High-spend, long-stay, and growing fast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4.1m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travellers to Italy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over EUR 6.6bn in 2025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arrivals, to Aug 2025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fastest-growing US markets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191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spend per night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of any nationality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is Italy's premium inbound market: the highest per-night spend of any nationality, long stays of 8 to 10 nights, and a profile that is 88% leisure.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traffic to Southern Europe is running circa 27% above 2019, against roughly flat growth Europe-wide. Italy is one of the strongest US-Europe markets.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high-yield, long-stay leisure profile supports a premium cabin and strong ancillary revenue on a Genoa service.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ENIT on Bank of Italy data (Mar 2026); Bank of Italy Survey on International Tourism 2024; OAG (2024); Italian Ministry of Tourism (Oct 2025).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NEW YORK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major cruise homeport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Air-relevant embarkation demand on top of the leisure base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583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is the seventh-largest cruise port in the Mediterranean, handling circa 1.6m cruise passengers in 2025.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these, circa 620,000 are homeport (embarking or disembarking) passengers who must travel to or from Genoa, many by air.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is the home of Costa Cruises and an MSC base. MSC already sells flight-inclusive packages with a guest lounge at Genoa airport.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is the world's largest cruise source market, so a New York nonstop strengthens Genoa as a transatlantic embarkation port.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2672" y="1929384"/>
            <a:ext cx="341985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620,000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0" y="26151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air-relevant cruise pax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0" y="293522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Homeport passengers at Genoa,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0" y="3566160"/>
            <a:ext cx="3749040" cy="1600200"/>
          </a:xfrm>
          <a:prstGeom prst="roundRect">
            <a:avLst>
              <a:gd name="adj" fmla="val 2857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589520" y="356616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cruise terminal / MSC or Costa ship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Risposte Turismo / Seatrade Cruise (Mar 2026); Ports of Genoa; MSC Cruises. Fly-cruise air share to be confirmed from cruise-line data.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NEW YORK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0" y="128016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Liguria map / drive-time to Milan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catchment, and the leak to Milan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Genoa's New York demand drives two hours to Malpensa today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583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Genoa catchment generates circa 553,300 two-way passengers a year to New York, but almost none of it flies from Genoa.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nonstop, Liguria passengers drive circa two hours to Milan Malpensa, or connect over Rome, Munich or Amsterdam.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Malpensa runs circa four daily New York nonstops (Delta, American, Emirates and Neos). That is the pool a Genoa service would partly recapture.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Recapturing local demand onto a local nonstop is the core of the case, the same logic that built United's secondary-Italy routes.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2672" y="1929384"/>
            <a:ext cx="341985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198 km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0" y="26151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to Malpensa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0" y="293522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two-hour drive each way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0" y="3566160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62672" y="3712464"/>
            <a:ext cx="341985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4 daily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680960" y="43982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- New York nonstops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0" y="471830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leakage a Genoa service recaptures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catchment model; Rome2Rio; OAG / schedule data (Milan-New York frequencies to be confirmed against OAG).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Recapturing the leakage: the forecast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daily A321XLR can carry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74320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Passengers (each way)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catchment demand to New York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92,500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Genoa's own addressable 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Captured at Genoa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7,000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all leaks to Milan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Leaked pool a nonstop can win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85,500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driving past Genoa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Repatriated at 65% 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55,600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Bounded, conservative 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Genoa nonstop forecast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62,600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Captured plus repatriated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 62,600 each way fills a daily A321XLR (182 seats) in peak season. Capture is bounded at 65% of the leaked pool, so the figure does not over-reach.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catchment and repatriation model (Sabre O&amp;D), to be refreshed on the live base.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and economics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aircraft in peak, with an honest read on the cost 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132,500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seats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A321XLR, two-way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62%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load factor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on the demand forecast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route margin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realistic entrant fares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fills a daily A321XLR through the peak. Demand is concentrated in summer, so a building or seasonal pattern is the prudent launch shape.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realistic entrant fares (an economy yield set below the market to attract leaked traffic, plus a credible single-aisle business cabin) the route carries a modest positive margin with a breakeven near 62%.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the cost base is extrapolated for a new-generation narrowbody with no startup ramp modelled. The cost side should be pressure-tested before any commitment.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revenue and aircraft economics model. Illustrative; pressure-test the cost base before use.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and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precedent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0" y="128016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A321XLR / Newark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A321XLR makes a thin route viable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aircraft that opens secondary-city transatlantic markets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4,700nm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A321XLR range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to New York is circa 3,750nm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182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of a widebody's demand need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2025-26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transatlantic entry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 Lingus, Iberia, JetBlue, United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A321XLR carries circa 180 to 200 passengers across the Atlantic, opening routes that no widebody could fill daily. That is exactly what a thin market like Genoa needs.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to New York is roughly 3,750nm, comfortably inside the type's 4,700nm range, and Genoa's runway and apron handle the aircraft without constraint.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carriers are already flying the type transatlantic, and United took its first A321XLR at Newark in June 2026, the natural operator for this route.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Airbus A321XLR; The Points Guy / Travel And Tour World (Aer Lingus, Iberia, JetBlue); AeroXplorer (United XLR, Jun 2026).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precedent: United's secondary-Italy nonstops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template Genoa fits precisely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329184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Newark, plus Chicago, Atlanta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Established, expanded 2024-2025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twice daily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Palermo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Newark (United, only US carrier)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Launched May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weekly, building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Newark (United, only US carrier)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Launches May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weekly, Boeing 767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 (proposed)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opportunity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Seasonal, building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262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is systematically opening Newark nonstops from secondary European cities (Palermo, Bari, Glasgow, Bilbao, Split) at 3 to 4 weekly. Genoa is a mid-sized Italian city with strong US leisure demand and no incumbent nonstop: the same case.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Air Service One (May 2025); AFAR citing United (Oct 2025).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traffic, and the right service pattern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Stimulation as well as recapture, on a seasonal shape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3474720"/>
          </a:xfrm>
          <a:prstGeom prst="roundRect">
            <a:avLst>
              <a:gd name="adj" fmla="val 1316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Stimulation, not only diversion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Naples is the proof: North American seats reached six times the 2019 level by 2025 as nonstops were added, growth too large to be diversion from Rome or Milan alone.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Genoa nonstop both recaptures the Liguria leakage to Milan and stimulates new US point-of-sale and inbound leisure demand.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166360" cy="3474720"/>
          </a:xfrm>
          <a:prstGeom prst="roundRect">
            <a:avLst>
              <a:gd name="adj" fmla="val 1316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seasonal shape is the honest 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3317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leisure is highly seasonal, so the prudent base case is a service running late April to October, not year-round.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operation would lean on the visiting-friends and business layers, which are real but thinner. The precedent carriers run these markets seasonally.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Air Service One (Naples, May 2025); OAG (2024); Eurostat seasonality (2025).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Genoa Cristoforo Colombo airport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Capable, growing fast, and with no long-haul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1.58m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passengers, 2025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record, up 18% on 2024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2,915m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for an A321XLR to New York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routes today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Liguria long-haul leaks out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 set a passenger record in 2025, up 18% on the year, with international traffic rising for 21 consecutive months. The airport has clear momentum.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runway and apron handle widebodies for cruise charters, so an A321XLR is well within capability. There is no transatlantic-relevant runway constraint.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airport is independently operated and is openly pursuing an air-service-development agenda, a receptive counterparty for a new long-haul.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Invest in Genova citing the airport (Jan 2026); Genoa Cristoforo Colombo airport / SKYbrary (runway).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layer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but real, on top of the leisure and diaspora base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Liguria has an affluent, export-facing economy (GDP per head above the national average) anchored by the Port of Genoa, Italy's premier gateway port at circa 3.0m TEU in 2025.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Genoa-headquartered industrials with global travel needs include Ansaldo Energia, Hitachi Rail and Esaote, alongside major Leonardo and Fincantieri sites in the region.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Italian Institute of Technology, headquartered in Genoa, runs permanent research outstations in the United States, generating recurring transatlantic academic travel.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Italy-US goods and services trade reached circa $137.6bn in 2024, with New York the institutional hub for Italian business in the US.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3749040" cy="3383280"/>
          </a:xfrm>
          <a:prstGeom prst="roundRect">
            <a:avLst>
              <a:gd name="adj" fmla="val 1351"/>
            </a:avLst>
          </a:prstGeom>
          <a:solidFill>
            <a:srgbClr val="F4F6F8"/>
          </a:solidFill>
          <a:ln w="12700">
            <a:solidFill>
              <a:srgbClr val="C8A4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in proportion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Genoa's specific corporate links to New York are modest. The route is carried by leisure, the diaspora and cruise demand, with business a supporting layer, not the headline.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ISTAT (2024); Ports of Genoa (2025); IIT Facts and Figures (Apr 2026); US Department of Commerce / ITA (Feb 2026).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the Avia QSI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engine, tuned to this route's profile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35000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Drive-time analysis sets Genoa's natural share of the Liguria market and the leakage to Milan, Rome and other gateways.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and repatriation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35000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Sabre O&amp;D sizes the New York market; a bounded capture of the leaked pool gives the demand a nonstop recaptures.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and economics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41330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A321XLR is matched to demand, with revenue by cabin, fares, and aircraft operating economics for the route P&amp;L.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56616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research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41330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relevance engine selects what matters for this profile: leisure, diaspora, cruise and the precedent, not corporate and tech.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Sabre O&amp;D demand and OAG schedules. The category research is prioritised automatically by route profile.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Genoa - New York  |  Airbus A321XLR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York nonstop for Liguria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Italian-American market in the world, a record tourism region and a major cruise homeport, with circa 92,500 New York passengers a year leaking out through Milan. The A321XLR and United's secondary-city template make Genoa the next in line.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4846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development and air service consultancy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john.carter@aviasolutions.com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Avia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Genoa to New York - Route Business Case</dc:title>
  <dc:subject>Genoa GOA-New York route forecast and business case</dc:subject>
  <dc:creator>Avia Solutions</dc:creator>
  <cp:lastModifiedBy>Avia Solutions</cp:lastModifiedBy>
  <cp:revision>1</cp:revision>
  <dcterms:created xsi:type="dcterms:W3CDTF">2026-06-28T18:37:01Z</dcterms:created>
  <dcterms:modified xsi:type="dcterms:W3CDTF">2026-06-28T18:37:01Z</dcterms:modified>
</cp:coreProperties>
</file>