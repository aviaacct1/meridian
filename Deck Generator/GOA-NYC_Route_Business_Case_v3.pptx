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New York</c:v>
                  </c:pt>
                  <c:pt idx="1">
                    <c:v>Philadelphia</c:v>
                  </c:pt>
                  <c:pt idx="2">
                    <c:v>Boston</c:v>
                  </c:pt>
                  <c:pt idx="3">
                    <c:v>Chicago</c:v>
                  </c:pt>
                  <c:pt idx="4">
                    <c:v>Los Angeles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</c:v>
                </c:pt>
                <c:pt idx="1">
                  <c:v>1.3</c:v>
                </c:pt>
                <c:pt idx="2">
                  <c:v>0.9</c:v>
                </c:pt>
                <c:pt idx="3">
                  <c:v>0.8</c:v>
                </c:pt>
                <c:pt idx="4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load factor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</c:v>
                </c:pt>
                <c:pt idx="1">
                  <c:v>55</c:v>
                </c:pt>
                <c:pt idx="2">
                  <c:v>62</c:v>
                </c:pt>
                <c:pt idx="3">
                  <c:v>75</c:v>
                </c:pt>
                <c:pt idx="4">
                  <c:v>85</c:v>
                </c:pt>
                <c:pt idx="5">
                  <c:v>92</c:v>
                </c:pt>
                <c:pt idx="6">
                  <c:v>96</c:v>
                </c:pt>
                <c:pt idx="7">
                  <c:v>96</c:v>
                </c:pt>
                <c:pt idx="8">
                  <c:v>90</c:v>
                </c:pt>
                <c:pt idx="9">
                  <c:v>78</c:v>
                </c:pt>
                <c:pt idx="10">
                  <c:v>60</c:v>
                </c:pt>
                <c:pt idx="11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344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(Genoa / Italian Riviera hero)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from Genoa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 di Genova Cristoforo Colombo  |  Genoa - New York  |  Airbus A321XLR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Avia Solutions  |  June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Airport logo ]      [ Avia Solutions logo ]      [ Airline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Route Forecast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11535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2951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New York from Genoa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11535" y="2295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8986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and the Precedent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11535" y="2898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50215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- New York Forecast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11535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056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1056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11535" y="4105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09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Airport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11535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312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53126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11535" y="5312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is well placed to anchor a New York service for Liguria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532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holds the largest Italian-American population on earth: circa 2.6m in the metro, circa 6.3m across the US northeast.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Liguria set a tourism record in 2024 at 16.2m arrivals, led by foreign demand, with the Cinque Terre and Portofino within an hour of the airport.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 is Italy's premium inbound market: circa 4.1m travellers spending over EUR 6.6bn in 2025, the highest per-night spend of any nationality.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is a major cruise homeport: circa 620,000 air-relevant embarkation passengers a year.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508760"/>
            <a:ext cx="5074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catchment generates circa 553,300 New York passengers a year, almost all leaking out through Milan today.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A321XLR makes a thin transatlantic market viable, and United is already opening Newark nonstops to secondary Italian cities.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aircraft fills in peak season; a seasonal, building pattern is the prudent launch.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read: a mainly point-to-point leisure and VFR market, thinner than a hub route, with a modest business layer.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US Census ACS 2024; Regione Liguria; Bank of Italy; Ports of Genoa (2024-2026)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at Genoa: Summary of Route Forecast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553,300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O&amp;D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62,600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Recaptured by a Genoa nonstop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Each way, based on AviaSolutions' Genoa catchment analysis.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81328"/>
            <a:ext cx="7589520" cy="3246120"/>
          </a:xfrm>
          <a:prstGeom prst="roundRect">
            <a:avLst>
              <a:gd name="adj" fmla="val 1127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pic>
        <p:nvPicPr>
          <p:cNvPr id="14" name="Image 0" descr="route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1554480"/>
            <a:ext cx="7406640" cy="31089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Options: Airbus A321XLR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76672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1097280"/>
                <a:gridCol w="1005840"/>
                <a:gridCol w="868680"/>
                <a:gridCol w="1463040"/>
                <a:gridCol w="1371600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Pax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GOA-JFK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A321XLR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JFK-GOA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A321XLR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A321XLR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132,496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90%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New York from Genoa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Italian-American market on earth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deep, year-round visiting-friends 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1089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2.6m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505456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Italians in the New York metro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88950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of any US metro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9080" y="148132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Italian-American population by US metro (millions)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31920" y="1783080"/>
          <a:ext cx="7315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36118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York region holds the densest Italian-American population anywhere outside Italy, circa 39% of the US total across the northeast.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resilient, year-round visiting-friends-and-relatives base, less seasonal and less price-sensitive than pure leisure.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carries a direct hook: the city is the birthplace of Christopher Columbus, the figure at the centre of New York's Italian-American identity.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Census Bureau ACS 2024 (B04006); ENIT / ForwardKeys (2026)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tourism region and a premium US 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High-spend, long-stay leisure demand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Liguria arrivals,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all-time record, foreign-led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4.1m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travellers to Italy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over EUR 6.6bn in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191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spend per night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of any nationality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 packs world-class draws within an hour of the airport: the Cinque Terre, Portofino, the Riviera and a UNESCO-listed historic centre.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was Lonely Planet's only Italian Best in Travel city for 2025, fresh visibility in the US market.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traffic to Southern Europe runs circa 27% above 2019; the profile is long-stay (8-10 nights) and 88% leisure.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Regione Liguria Tourism Observatory (2025); ENIT / Bank of Italy (2026); Lonely Planet 2025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 cruise homeport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Air-relevant embarkation demand on top of leisure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is the seventh-largest cruise port in the Mediterranean, circa 1.6m cruise passengers in 2025.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these, circa 620,000 are homeport passengers who travel to or from Genoa, many by air.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is the home of Costa Cruises and an MSC base; MSC already sells flight-inclusive packages with a Genoa airport lounge.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United States is the world's largest cruise source market, so a New York nonstop strengthens Genoa as a transatlantic embarkation port.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37490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44384" y="1682496"/>
            <a:ext cx="345643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620,000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62672" y="2315261"/>
            <a:ext cx="34198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air-relevant cruise pax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62672" y="2622499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Homeport passengers,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0" y="3200400"/>
            <a:ext cx="3749040" cy="1463040"/>
          </a:xfrm>
          <a:prstGeom prst="roundRect">
            <a:avLst>
              <a:gd name="adj" fmla="val 25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589520" y="3200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cruise terminal / ship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Risposte Turismo / Seatrade (2026); Ports of Genoa; MSC Cruises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and the Precedent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A321XLR makes a thin route viable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aircraft that opens secondary-city transatlantic markets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4,700nm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A321XLR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to New York is circa 3,750nm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182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fraction of a widebody's demand need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315261"/>
            <a:ext cx="291693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transatlantic entry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622499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 Lingus, Iberia, JetBlue, United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A321XLR carries circa 180 to 200 passengers across the Atlantic, opening routes no widebody could fill daily.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to New York is comfortably inside the type's range, and the runway and apron handle the aircraft without constraint.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took its first A321XLR at Newark in June 2026, the natural operator for this route.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Airbus; AeroXplorer (United XLR, Jun 2026); The Points Guy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precedent: United's secondary-Italy nonstops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template that Genoa fits precisely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2918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Newark, plus Chicago and Atlanta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Established, expanded 2024-2025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twice daily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Palermo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Newark (United, only US carrier)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Launched May 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weekly, building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Newark (United, only US carrier)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Launches May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weekly, Boeing 767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opportunity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Seasonal, building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is systematically opening Newark nonstops from secondary European cities (Palermo, Bari, Glasgow, Bilbao) at 3 to 4 weekly. Genoa is a mid-sized Italian city with strong US leisure demand and no incumbent nonstop: the same case.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 Service One (May 2025); AFAR citing United (Oct 2025)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Seasonality: a summer-led, building pattern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seasonal launch is the prudent base case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5544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863840" y="17373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Mediterranean leisure demand is highly seasonal, peaking June to September.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prudent launch mirrors United's secondary-Italy routes: seasonal, late April to October.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service would lean on the visiting-friends and business layers, which are real but thinner.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Eurostat seasonality (2025). Monthly profile illustrative.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- New York Forecast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catchment and the leak to Milan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Genoa's New York demand drives two hours to Malpensa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Genoa catchment generates circa 553,300 two-way passengers a year to New York, but almost none flies from Genoa.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nonstop, Liguria passengers drive circa two hours to Milan Malpensa, or connect over Rome, Munich or Amsterdam.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Milan Malpensa runs circa four daily New York nonstops; that is the pool a Genoa service would partly recapture.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Recapturing local demand onto a local nonstop is the core of the case, the same logic that built United's secondary-Italy routes.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37490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44384" y="1682496"/>
            <a:ext cx="345643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198 km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62672" y="2315261"/>
            <a:ext cx="34198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to Malpensa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62672" y="2622499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two-hour drive each way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0" y="3200400"/>
            <a:ext cx="37490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3328416"/>
            <a:ext cx="345643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4 daily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62672" y="3961181"/>
            <a:ext cx="341985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Milan - New York nonstops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62672" y="4268419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leakage a Genoa service recaptures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catchment model; OAG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Forecast: recapturing the leakage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daily A321XLR can carry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3931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layer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(each way)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catchment demand to New York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92,500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Genoa's own addressable market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Captured at Genoa today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7,000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Almost all leaks to Milan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Leaked pool a nonstop can win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85,500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driving past Genoa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Repatriated at 65% capture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55,600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Bounded, conservative capture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Genoa nonstop 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62,600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Captured plus repatriated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26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Genoa is a point-to-point market. Unlike a hub route there is little connecting demand to tabulate beyond New York or beyond Genoa, so the forecast rests on catchment recapture and stimulation.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catchment and repatriation model (Sabre O&amp;D)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detail by cabin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quality on a leisure-led market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28600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(each way)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One-way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50,100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each way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62,600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383280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3511296"/>
            <a:ext cx="3090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125,200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" y="40965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passengers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4384548"/>
            <a:ext cx="30540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directions combined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51960" y="3383280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98264" y="3511296"/>
            <a:ext cx="3090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seats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416552" y="40965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Airbus A321XLR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16552" y="4384548"/>
            <a:ext cx="30540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business, 162 economy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863840" y="3383280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10144" y="3511296"/>
            <a:ext cx="3090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90%+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028432" y="40965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load factor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28432" y="4384548"/>
            <a:ext cx="30540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fills the aircraft in season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is one in five passengers but circa half of ticket revenue, the quality that supports a premium single-aisle cabin.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model; cabin split from the Genoa case. Illustrative.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Forecast Scenario: Genoa - New York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picture, with an honest read on the cost base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Airbus A321XLR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departures (peak)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cabin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Economy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load factor (peak)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90%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economy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business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 revenue (annual)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and ancillary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(annual)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$73m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Breakeven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62%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the cost base is extrapolated for a new-generation narrowbody with no startup ramp modelled. Pressure-test the cost side before any commitment.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and aircraft economics model. Illustrative, seasonal-adjusted annual basis.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Airport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airport: the hard facts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AIP and airport data, held offline in the tool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ICAO / IATA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LIMJ / GOA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44.4133 N, 008.8375 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ft (4 m), sea level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Runway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10/28, 2,915 m x 45 m, asphalt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ILS, precision approach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 stands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 of which 6 widebody-capable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passengers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1.58m, a record (+18%)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to 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6 km to Genoa centre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554480"/>
            <a:ext cx="3749040" cy="1920240"/>
          </a:xfrm>
          <a:prstGeom prst="roundRect">
            <a:avLst>
              <a:gd name="adj" fmla="val 1905"/>
            </a:avLst>
          </a:prstGeom>
          <a:solidFill>
            <a:srgbClr val="F2F5F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the route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20574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A321XLR to New York needs circa 2,100 to 2,600 m at maximum take-off weight. Genoa's 2,915 m runway at sea level gives ample margin.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3657600"/>
            <a:ext cx="3749040" cy="1325880"/>
          </a:xfrm>
          <a:prstGeom prst="roundRect">
            <a:avLst>
              <a:gd name="adj" fmla="val 2759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589520" y="3657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Genoa airport / airfield aerial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Genoa AIP (LIMJ); Invest in Genova (2025 traffic). Single-runway, no parallel.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Transatlantic Opportunity: New York from Genoa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Catchment recapture drives a point-to-point market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demand is grown to maturity from Sabre O&amp;D data, counting the Genoa catchment, with the leakage to Milan and other gateways recaptured by a local nonstop.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212080" cy="3154680"/>
          </a:xfrm>
          <a:prstGeom prst="roundRect">
            <a:avLst>
              <a:gd name="adj" fmla="val 1159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Catchment and Demand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Drive-time analysis sets Genoa's natural share of the Liguria market and the leakage to Milan.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Sabre O&amp;D sizes the New York market from the catchment.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capture of the leaked pool gives the demand a nonstop recaptures.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5166360" cy="3154680"/>
          </a:xfrm>
          <a:prstGeom prst="roundRect">
            <a:avLst>
              <a:gd name="adj" fmla="val 1159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and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A321XLR is matched to peak demand on a seasonal, building pattern.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built by cabin from MIDT fares, with cargo and ancillary added.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relevance engine selects what matters for this profile: leisure, diaspora, cruise and the precedent, not corporate and tech.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Genoa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Italian-American market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2.6m in the New York metro, a deep year-round VFR base.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tourism region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Liguria at 16.2m arrivals, the Cinque Terre and Portofino within an hour.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Cruise homeport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620,000 air-relevant embarkation passengers a year.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leakage to recapture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92,500 New York passengers leaking out through Milan today.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template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United's A321XLR Newark nonstops to Palermo, Bari and Naples.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and conservative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seasonal, building launch on a point-to-point market, cost base to be pressure-tested.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Transatlantic Opportunity: New York from Genoa</dc:title>
  <dc:subject>PptxGenJS Presentation</dc:subject>
  <dc:creator>Avia Solutions</dc:creator>
  <cp:lastModifiedBy>Avia Solutions</cp:lastModifiedBy>
  <cp:revision>1</cp:revision>
  <dcterms:created xsi:type="dcterms:W3CDTF">2026-06-28T22:42:37Z</dcterms:created>
  <dcterms:modified xsi:type="dcterms:W3CDTF">2026-06-28T22:42:37Z</dcterms:modified>
</cp:coreProperties>
</file>